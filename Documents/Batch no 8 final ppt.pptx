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handoutMasterIdLst>
    <p:handoutMasterId r:id="rId29"/>
  </p:handoutMasterIdLst>
  <p:sldIdLst>
    <p:sldId id="273" r:id="rId2"/>
    <p:sldId id="438" r:id="rId3"/>
    <p:sldId id="672" r:id="rId4"/>
    <p:sldId id="575" r:id="rId5"/>
    <p:sldId id="596" r:id="rId6"/>
    <p:sldId id="600" r:id="rId7"/>
    <p:sldId id="601" r:id="rId8"/>
    <p:sldId id="597" r:id="rId9"/>
    <p:sldId id="599" r:id="rId10"/>
    <p:sldId id="689" r:id="rId11"/>
    <p:sldId id="686" r:id="rId12"/>
    <p:sldId id="687" r:id="rId13"/>
    <p:sldId id="688" r:id="rId14"/>
    <p:sldId id="673" r:id="rId15"/>
    <p:sldId id="680" r:id="rId16"/>
    <p:sldId id="684" r:id="rId17"/>
    <p:sldId id="685" r:id="rId18"/>
    <p:sldId id="676" r:id="rId19"/>
    <p:sldId id="677" r:id="rId20"/>
    <p:sldId id="678" r:id="rId21"/>
    <p:sldId id="679" r:id="rId22"/>
    <p:sldId id="681" r:id="rId23"/>
    <p:sldId id="682" r:id="rId24"/>
    <p:sldId id="683" r:id="rId25"/>
    <p:sldId id="589" r:id="rId26"/>
    <p:sldId id="576" r:id="rId27"/>
  </p:sldIdLst>
  <p:sldSz cx="10620375" cy="77755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1D15361-DBE3-4054-9865-4E5316216F42}">
          <p14:sldIdLst>
            <p14:sldId id="273"/>
            <p14:sldId id="438"/>
            <p14:sldId id="672"/>
            <p14:sldId id="575"/>
            <p14:sldId id="596"/>
            <p14:sldId id="600"/>
            <p14:sldId id="601"/>
            <p14:sldId id="597"/>
            <p14:sldId id="599"/>
            <p14:sldId id="689"/>
            <p14:sldId id="686"/>
            <p14:sldId id="687"/>
            <p14:sldId id="688"/>
            <p14:sldId id="673"/>
            <p14:sldId id="680"/>
            <p14:sldId id="684"/>
            <p14:sldId id="685"/>
            <p14:sldId id="676"/>
            <p14:sldId id="677"/>
            <p14:sldId id="678"/>
            <p14:sldId id="679"/>
            <p14:sldId id="681"/>
            <p14:sldId id="682"/>
            <p14:sldId id="683"/>
            <p14:sldId id="589"/>
            <p14:sldId id="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0E3F"/>
    <a:srgbClr val="E20ED8"/>
    <a:srgbClr val="F777C3"/>
    <a:srgbClr val="EF11CF"/>
    <a:srgbClr val="BD73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971" autoAdjust="0"/>
  </p:normalViewPr>
  <p:slideViewPr>
    <p:cSldViewPr>
      <p:cViewPr varScale="1">
        <p:scale>
          <a:sx n="69" d="100"/>
          <a:sy n="69" d="100"/>
        </p:scale>
        <p:origin x="1541"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8C7DE0A-8FF6-48C1-AC37-0BBA95024080}" type="datetimeFigureOut">
              <a:rPr lang="en-US" smtClean="0"/>
              <a:pPr/>
              <a:t>4/23/2026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ICHWAM 2014</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03BC5FC-7743-4605-9CFF-2D07F134ADB3}"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F8BB5-EABF-4B08-AD6E-F540164FFDE2}" type="datetimeFigureOut">
              <a:rPr lang="en-US" smtClean="0"/>
              <a:pPr/>
              <a:t>4/23/2026</a:t>
            </a:fld>
            <a:endParaRPr lang="en-US"/>
          </a:p>
        </p:txBody>
      </p:sp>
      <p:sp>
        <p:nvSpPr>
          <p:cNvPr id="4" name="Slide Image Placeholder 3"/>
          <p:cNvSpPr>
            <a:spLocks noGrp="1" noRot="1" noChangeAspect="1"/>
          </p:cNvSpPr>
          <p:nvPr>
            <p:ph type="sldImg" idx="2"/>
          </p:nvPr>
        </p:nvSpPr>
        <p:spPr>
          <a:xfrm>
            <a:off x="1087438" y="685800"/>
            <a:ext cx="46831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ICHWAM 2014</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320DA5-A4A2-4290-A626-C7E05375A59E}" type="slidenum">
              <a:rPr lang="en-US" smtClean="0"/>
              <a:pPr/>
              <a:t>‹#›</a:t>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5" y="3"/>
            <a:ext cx="10620375" cy="7775575"/>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2204"/>
          </a:p>
        </p:txBody>
      </p:sp>
      <p:sp useBgFill="1">
        <p:nvSpPr>
          <p:cNvPr id="13" name="Rounded Rectangle 12"/>
          <p:cNvSpPr/>
          <p:nvPr/>
        </p:nvSpPr>
        <p:spPr>
          <a:xfrm>
            <a:off x="75864" y="79093"/>
            <a:ext cx="10468656" cy="758759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2204"/>
          </a:p>
        </p:txBody>
      </p:sp>
      <p:sp>
        <p:nvSpPr>
          <p:cNvPr id="9" name="Subtitle 8"/>
          <p:cNvSpPr>
            <a:spLocks noGrp="1"/>
          </p:cNvSpPr>
          <p:nvPr>
            <p:ph type="subTitle" idx="1"/>
          </p:nvPr>
        </p:nvSpPr>
        <p:spPr>
          <a:xfrm>
            <a:off x="1504553" y="3628603"/>
            <a:ext cx="7434263" cy="1814301"/>
          </a:xfrm>
        </p:spPr>
        <p:txBody>
          <a:bodyPr/>
          <a:lstStyle>
            <a:lvl1pPr marL="0" indent="0" algn="ctr">
              <a:buNone/>
              <a:defRPr sz="3185">
                <a:solidFill>
                  <a:schemeClr val="tx2"/>
                </a:solidFill>
              </a:defRPr>
            </a:lvl1pPr>
            <a:lvl2pPr marL="559972" indent="0" algn="ctr">
              <a:buNone/>
            </a:lvl2pPr>
            <a:lvl3pPr marL="1119940" indent="0" algn="ctr">
              <a:buNone/>
            </a:lvl3pPr>
            <a:lvl4pPr marL="1679911" indent="0" algn="ctr">
              <a:buNone/>
            </a:lvl4pPr>
            <a:lvl5pPr marL="2239883" indent="0" algn="ctr">
              <a:buNone/>
            </a:lvl5pPr>
            <a:lvl6pPr marL="2799853" indent="0" algn="ctr">
              <a:buNone/>
            </a:lvl6pPr>
            <a:lvl7pPr marL="3359823" indent="0" algn="ctr">
              <a:buNone/>
            </a:lvl7pPr>
            <a:lvl8pPr marL="3919792" indent="0" algn="ctr">
              <a:buNone/>
            </a:lvl8pPr>
            <a:lvl9pPr marL="4479764"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EA3E630A-B0DA-41B9-922C-887F23B232A3}" type="datetime1">
              <a:rPr lang="en-US" smtClean="0"/>
              <a:t>4/23/2026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714">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73094" y="1643219"/>
            <a:ext cx="10478139" cy="1731702"/>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10" name="Rectangle 9"/>
          <p:cNvSpPr/>
          <p:nvPr/>
        </p:nvSpPr>
        <p:spPr>
          <a:xfrm>
            <a:off x="73094" y="1583599"/>
            <a:ext cx="10478139" cy="136713"/>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11" name="Rectangle 10"/>
          <p:cNvSpPr/>
          <p:nvPr/>
        </p:nvSpPr>
        <p:spPr>
          <a:xfrm>
            <a:off x="73094" y="3374917"/>
            <a:ext cx="10478139" cy="125321"/>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8" name="Title 7"/>
          <p:cNvSpPr>
            <a:spLocks noGrp="1"/>
          </p:cNvSpPr>
          <p:nvPr>
            <p:ph type="ctrTitle"/>
          </p:nvPr>
        </p:nvSpPr>
        <p:spPr>
          <a:xfrm>
            <a:off x="531024" y="1707425"/>
            <a:ext cx="9558338" cy="1666709"/>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74E2B4D8-5F3A-4C4C-BE73-7CDC444DCF2D}" type="datetime1">
              <a:rPr lang="en-US" smtClean="0"/>
              <a:t>4/23/2026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1062038" y="1641511"/>
            <a:ext cx="9027319" cy="5183716"/>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5" y="3"/>
            <a:ext cx="10620375" cy="7775575"/>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2204"/>
          </a:p>
        </p:txBody>
      </p:sp>
      <p:sp useBgFill="1">
        <p:nvSpPr>
          <p:cNvPr id="10" name="Rounded Rectangle 9"/>
          <p:cNvSpPr/>
          <p:nvPr/>
        </p:nvSpPr>
        <p:spPr>
          <a:xfrm>
            <a:off x="75864" y="79093"/>
            <a:ext cx="10468656" cy="758759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2204"/>
          </a:p>
        </p:txBody>
      </p:sp>
      <p:sp>
        <p:nvSpPr>
          <p:cNvPr id="2" name="Title 1"/>
          <p:cNvSpPr>
            <a:spLocks noGrp="1"/>
          </p:cNvSpPr>
          <p:nvPr>
            <p:ph type="title"/>
          </p:nvPr>
        </p:nvSpPr>
        <p:spPr>
          <a:xfrm>
            <a:off x="838937" y="1079945"/>
            <a:ext cx="9027319" cy="1544316"/>
          </a:xfrm>
        </p:spPr>
        <p:txBody>
          <a:bodyPr anchor="b" anchorCtr="0"/>
          <a:lstStyle>
            <a:lvl1pPr algn="l">
              <a:buNone/>
              <a:defRPr sz="4899" b="0" cap="none"/>
            </a:lvl1pPr>
          </a:lstStyle>
          <a:p>
            <a:r>
              <a:rPr kumimoji="0" lang="en-US"/>
              <a:t>Click to edit Master title style</a:t>
            </a:r>
          </a:p>
        </p:txBody>
      </p:sp>
      <p:sp>
        <p:nvSpPr>
          <p:cNvPr id="3" name="Text Placeholder 2"/>
          <p:cNvSpPr>
            <a:spLocks noGrp="1"/>
          </p:cNvSpPr>
          <p:nvPr>
            <p:ph type="body" idx="1"/>
          </p:nvPr>
        </p:nvSpPr>
        <p:spPr>
          <a:xfrm>
            <a:off x="838937" y="2888843"/>
            <a:ext cx="9027319" cy="1517316"/>
          </a:xfrm>
        </p:spPr>
        <p:txBody>
          <a:bodyPr anchor="t" anchorCtr="0"/>
          <a:lstStyle>
            <a:lvl1pPr marL="0" indent="0">
              <a:buNone/>
              <a:defRPr sz="2939">
                <a:solidFill>
                  <a:schemeClr val="tx1">
                    <a:tint val="75000"/>
                  </a:schemeClr>
                </a:solidFill>
              </a:defRPr>
            </a:lvl1pPr>
            <a:lvl2pPr>
              <a:buNone/>
              <a:defRPr sz="2204">
                <a:solidFill>
                  <a:schemeClr val="tx1">
                    <a:tint val="75000"/>
                  </a:schemeClr>
                </a:solidFill>
              </a:defRPr>
            </a:lvl2pPr>
            <a:lvl3pPr>
              <a:buNone/>
              <a:defRPr sz="1960">
                <a:solidFill>
                  <a:schemeClr val="tx1">
                    <a:tint val="75000"/>
                  </a:schemeClr>
                </a:solidFill>
              </a:defRPr>
            </a:lvl3pPr>
            <a:lvl4pPr>
              <a:buNone/>
              <a:defRPr sz="1714">
                <a:solidFill>
                  <a:schemeClr val="tx1">
                    <a:tint val="75000"/>
                  </a:schemeClr>
                </a:solidFill>
              </a:defRPr>
            </a:lvl4pPr>
            <a:lvl5pPr>
              <a:buNone/>
              <a:defRPr sz="1714">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5E4401C-B2FF-4FBC-8615-06DCDFF460A4}" type="datetime1">
              <a:rPr lang="en-US" smtClean="0"/>
              <a:t>4/23/2026</a:t>
            </a:fld>
            <a:endParaRPr lang="en-US"/>
          </a:p>
        </p:txBody>
      </p:sp>
      <p:sp>
        <p:nvSpPr>
          <p:cNvPr id="5" name="Footer Placeholder 4"/>
          <p:cNvSpPr>
            <a:spLocks noGrp="1"/>
          </p:cNvSpPr>
          <p:nvPr>
            <p:ph type="ftr" sz="quarter" idx="11"/>
          </p:nvPr>
        </p:nvSpPr>
        <p:spPr>
          <a:xfrm>
            <a:off x="929288" y="6998020"/>
            <a:ext cx="4646414" cy="518371"/>
          </a:xfrm>
        </p:spPr>
        <p:txBody>
          <a:bodyPr/>
          <a:lstStyle/>
          <a:p>
            <a:endParaRPr lang="en-US"/>
          </a:p>
        </p:txBody>
      </p:sp>
      <p:sp>
        <p:nvSpPr>
          <p:cNvPr id="7" name="Rectangle 6"/>
          <p:cNvSpPr/>
          <p:nvPr/>
        </p:nvSpPr>
        <p:spPr>
          <a:xfrm flipV="1">
            <a:off x="80625" y="2694844"/>
            <a:ext cx="10468822" cy="1036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8" name="Rectangle 7"/>
          <p:cNvSpPr/>
          <p:nvPr/>
        </p:nvSpPr>
        <p:spPr>
          <a:xfrm>
            <a:off x="80316" y="2654761"/>
            <a:ext cx="10469131" cy="51836"/>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9" name="Rectangle 8"/>
          <p:cNvSpPr/>
          <p:nvPr/>
        </p:nvSpPr>
        <p:spPr>
          <a:xfrm>
            <a:off x="79335" y="2799210"/>
            <a:ext cx="10470106" cy="518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6" name="Slide Number Placeholder 5"/>
          <p:cNvSpPr>
            <a:spLocks noGrp="1"/>
          </p:cNvSpPr>
          <p:nvPr>
            <p:ph type="sldNum" sz="quarter" idx="12"/>
          </p:nvPr>
        </p:nvSpPr>
        <p:spPr>
          <a:xfrm>
            <a:off x="169931" y="7039489"/>
            <a:ext cx="531018" cy="518371"/>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5EBB668B-3DCE-4BFC-86E4-89F07B8D5AC3}" type="datetime1">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1062038" y="1641511"/>
            <a:ext cx="4354354" cy="5183716"/>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730577" y="1641511"/>
            <a:ext cx="4354354" cy="5183716"/>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2038" y="309583"/>
            <a:ext cx="9027319" cy="129593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062042" y="1641510"/>
            <a:ext cx="4336653" cy="863954"/>
          </a:xfrm>
          <a:noFill/>
          <a:ln w="12700" cap="sq" cmpd="sng" algn="ctr">
            <a:noFill/>
            <a:prstDash val="solid"/>
          </a:ln>
        </p:spPr>
        <p:txBody>
          <a:bodyPr lIns="91440" anchor="b" anchorCtr="0">
            <a:noAutofit/>
          </a:bodyPr>
          <a:lstStyle>
            <a:lvl1pPr marL="0" indent="0">
              <a:buNone/>
              <a:defRPr sz="2939" b="1">
                <a:solidFill>
                  <a:schemeClr val="accent1"/>
                </a:solidFill>
                <a:latin typeface="+mj-lt"/>
                <a:ea typeface="+mj-ea"/>
                <a:cs typeface="+mj-cs"/>
              </a:defRPr>
            </a:lvl1pPr>
            <a:lvl2pPr>
              <a:buNone/>
              <a:defRPr sz="2449" b="1"/>
            </a:lvl2pPr>
            <a:lvl3pPr>
              <a:buNone/>
              <a:defRPr sz="2204" b="1"/>
            </a:lvl3pPr>
            <a:lvl4pPr>
              <a:buNone/>
              <a:defRPr sz="1960" b="1"/>
            </a:lvl4pPr>
            <a:lvl5pPr>
              <a:buNone/>
              <a:defRPr sz="196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752708" y="1641510"/>
            <a:ext cx="4336653" cy="863954"/>
          </a:xfrm>
          <a:noFill/>
          <a:ln w="12700" cap="sq" cmpd="sng" algn="ctr">
            <a:noFill/>
            <a:prstDash val="solid"/>
          </a:ln>
        </p:spPr>
        <p:txBody>
          <a:bodyPr lIns="91440" anchor="b" anchorCtr="0">
            <a:noAutofit/>
          </a:bodyPr>
          <a:lstStyle>
            <a:lvl1pPr marL="0" indent="0">
              <a:buNone/>
              <a:defRPr sz="2939" b="1">
                <a:solidFill>
                  <a:schemeClr val="accent1"/>
                </a:solidFill>
                <a:latin typeface="+mj-lt"/>
                <a:ea typeface="+mj-ea"/>
                <a:cs typeface="+mj-cs"/>
              </a:defRPr>
            </a:lvl1pPr>
            <a:lvl2pPr>
              <a:buNone/>
              <a:defRPr sz="2449" b="1"/>
            </a:lvl2pPr>
            <a:lvl3pPr>
              <a:buNone/>
              <a:defRPr sz="2204" b="1"/>
            </a:lvl3pPr>
            <a:lvl4pPr>
              <a:buNone/>
              <a:defRPr sz="1960" b="1"/>
            </a:lvl4pPr>
            <a:lvl5pPr>
              <a:buNone/>
              <a:defRPr sz="196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CD37377E-5E56-4F72-9417-0F9510B67B5D}" type="datetime1">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1062042" y="2548662"/>
            <a:ext cx="4336653" cy="440616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5752708" y="2548662"/>
            <a:ext cx="4336653" cy="440616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430FDF6-4A87-45DE-8A0B-6936B7AA336A}" type="datetime1">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5" y="3"/>
            <a:ext cx="10620375" cy="7775575"/>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useBgFill="1">
        <p:nvSpPr>
          <p:cNvPr id="9" name="Rounded Rectangle 8"/>
          <p:cNvSpPr/>
          <p:nvPr/>
        </p:nvSpPr>
        <p:spPr>
          <a:xfrm>
            <a:off x="74349" y="79091"/>
            <a:ext cx="10468656" cy="758896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2204"/>
          </a:p>
        </p:txBody>
      </p:sp>
      <p:sp>
        <p:nvSpPr>
          <p:cNvPr id="2" name="Title 1"/>
          <p:cNvSpPr>
            <a:spLocks noGrp="1"/>
          </p:cNvSpPr>
          <p:nvPr>
            <p:ph type="title"/>
          </p:nvPr>
        </p:nvSpPr>
        <p:spPr>
          <a:xfrm>
            <a:off x="1062038" y="309583"/>
            <a:ext cx="9027319" cy="1295930"/>
          </a:xfrm>
        </p:spPr>
        <p:txBody>
          <a:bodyPr anchor="b" anchorCtr="0"/>
          <a:lstStyle>
            <a:lvl1pPr algn="l">
              <a:buNone/>
              <a:defRPr sz="4899" b="0"/>
            </a:lvl1pPr>
          </a:lstStyle>
          <a:p>
            <a:r>
              <a:rPr kumimoji="0" lang="en-US"/>
              <a:t>Click to edit Master title style</a:t>
            </a:r>
          </a:p>
        </p:txBody>
      </p:sp>
      <p:sp>
        <p:nvSpPr>
          <p:cNvPr id="3" name="Text Placeholder 2"/>
          <p:cNvSpPr>
            <a:spLocks noGrp="1"/>
          </p:cNvSpPr>
          <p:nvPr>
            <p:ph type="body" idx="2"/>
          </p:nvPr>
        </p:nvSpPr>
        <p:spPr>
          <a:xfrm>
            <a:off x="1062041" y="1814302"/>
            <a:ext cx="2212578" cy="5097322"/>
          </a:xfrm>
        </p:spPr>
        <p:txBody>
          <a:bodyPr/>
          <a:lstStyle>
            <a:lvl1pPr marL="0" indent="0">
              <a:buNone/>
              <a:defRPr sz="2204"/>
            </a:lvl1pPr>
            <a:lvl2pPr>
              <a:buNone/>
              <a:defRPr sz="1471"/>
            </a:lvl2pPr>
            <a:lvl3pPr>
              <a:buNone/>
              <a:defRPr sz="1225"/>
            </a:lvl3pPr>
            <a:lvl4pPr>
              <a:buNone/>
              <a:defRPr sz="1103"/>
            </a:lvl4pPr>
            <a:lvl5pPr>
              <a:buNone/>
              <a:defRPr sz="1103"/>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5459217-383E-4324-81D0-ABBA72D1872D}" type="datetime1">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3451624" y="1814302"/>
            <a:ext cx="6637734" cy="5097322"/>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2039" y="5556227"/>
            <a:ext cx="8496300" cy="592169"/>
          </a:xfrm>
        </p:spPr>
        <p:txBody>
          <a:bodyPr anchor="ctr">
            <a:noAutofit/>
          </a:bodyPr>
          <a:lstStyle>
            <a:lvl1pPr algn="l">
              <a:buNone/>
              <a:defRPr sz="3429" b="0"/>
            </a:lvl1pPr>
          </a:lstStyle>
          <a:p>
            <a:r>
              <a:rPr kumimoji="0" lang="en-US"/>
              <a:t>Click to edit Master title style</a:t>
            </a:r>
          </a:p>
        </p:txBody>
      </p:sp>
      <p:sp>
        <p:nvSpPr>
          <p:cNvPr id="4" name="Text Placeholder 3"/>
          <p:cNvSpPr>
            <a:spLocks noGrp="1"/>
          </p:cNvSpPr>
          <p:nvPr>
            <p:ph type="body" sz="half" idx="2"/>
          </p:nvPr>
        </p:nvSpPr>
        <p:spPr>
          <a:xfrm>
            <a:off x="1062039" y="6174457"/>
            <a:ext cx="8496300" cy="777558"/>
          </a:xfrm>
        </p:spPr>
        <p:txBody>
          <a:bodyPr/>
          <a:lstStyle>
            <a:lvl1pPr marL="0" indent="0">
              <a:buFontTx/>
              <a:buNone/>
              <a:defRPr sz="1960"/>
            </a:lvl1pPr>
            <a:lvl2pPr>
              <a:defRPr sz="1471"/>
            </a:lvl2pPr>
            <a:lvl3pPr>
              <a:defRPr sz="1225"/>
            </a:lvl3pPr>
            <a:lvl4pPr>
              <a:defRPr sz="1103"/>
            </a:lvl4pPr>
            <a:lvl5pPr>
              <a:defRPr sz="1103"/>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C289DA1-8C0A-4647-8243-068B614FCABA}" type="datetime1">
              <a:rPr lang="en-US" smtClean="0"/>
              <a:t>4/23/2026</a:t>
            </a:fld>
            <a:endParaRPr lang="en-US"/>
          </a:p>
        </p:txBody>
      </p:sp>
      <p:sp>
        <p:nvSpPr>
          <p:cNvPr id="6" name="Footer Placeholder 5"/>
          <p:cNvSpPr>
            <a:spLocks noGrp="1"/>
          </p:cNvSpPr>
          <p:nvPr>
            <p:ph type="ftr" sz="quarter" idx="11"/>
          </p:nvPr>
        </p:nvSpPr>
        <p:spPr>
          <a:xfrm>
            <a:off x="1062038" y="6998020"/>
            <a:ext cx="4513660" cy="518371"/>
          </a:xfrm>
        </p:spPr>
        <p:txBody>
          <a:bodyPr/>
          <a:lstStyle/>
          <a:p>
            <a:endParaRPr lang="en-US"/>
          </a:p>
        </p:txBody>
      </p:sp>
      <p:sp>
        <p:nvSpPr>
          <p:cNvPr id="7" name="Slide Number Placeholder 6"/>
          <p:cNvSpPr>
            <a:spLocks noGrp="1"/>
          </p:cNvSpPr>
          <p:nvPr>
            <p:ph type="sldNum" sz="quarter" idx="12"/>
          </p:nvPr>
        </p:nvSpPr>
        <p:spPr>
          <a:xfrm>
            <a:off x="169931" y="7039489"/>
            <a:ext cx="531018" cy="518371"/>
          </a:xfrm>
        </p:spPr>
        <p:txBody>
          <a:bodyPr/>
          <a:lstStyle/>
          <a:p>
            <a:fld id="{B6F15528-21DE-4FAA-801E-634DDDAF4B2B}" type="slidenum">
              <a:rPr lang="en-US" smtClean="0"/>
              <a:pPr/>
              <a:t>‹#›</a:t>
            </a:fld>
            <a:endParaRPr lang="en-US"/>
          </a:p>
        </p:txBody>
      </p:sp>
      <p:sp>
        <p:nvSpPr>
          <p:cNvPr id="11" name="Rectangle 10"/>
          <p:cNvSpPr/>
          <p:nvPr/>
        </p:nvSpPr>
        <p:spPr>
          <a:xfrm flipV="1">
            <a:off x="79341" y="5310200"/>
            <a:ext cx="10461070" cy="1036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12" name="Rectangle 11"/>
          <p:cNvSpPr/>
          <p:nvPr/>
        </p:nvSpPr>
        <p:spPr>
          <a:xfrm>
            <a:off x="79574" y="5272694"/>
            <a:ext cx="10460836" cy="51836"/>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13" name="Rectangle 12"/>
          <p:cNvSpPr/>
          <p:nvPr/>
        </p:nvSpPr>
        <p:spPr>
          <a:xfrm>
            <a:off x="79577" y="5411867"/>
            <a:ext cx="10460833" cy="553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3" name="Picture Placeholder 2"/>
          <p:cNvSpPr>
            <a:spLocks noGrp="1"/>
          </p:cNvSpPr>
          <p:nvPr>
            <p:ph type="pic" idx="1"/>
          </p:nvPr>
        </p:nvSpPr>
        <p:spPr>
          <a:xfrm>
            <a:off x="79343" y="75600"/>
            <a:ext cx="10455300" cy="5194516"/>
          </a:xfrm>
          <a:prstGeom prst="round2SameRect">
            <a:avLst>
              <a:gd name="adj1" fmla="val 7101"/>
              <a:gd name="adj2" fmla="val 0"/>
            </a:avLst>
          </a:prstGeom>
          <a:solidFill>
            <a:schemeClr val="bg2"/>
          </a:solidFill>
          <a:ln w="6350">
            <a:solidFill>
              <a:schemeClr val="tx1"/>
            </a:solidFill>
          </a:ln>
        </p:spPr>
        <p:txBody>
          <a:bodyPr/>
          <a:lstStyle>
            <a:lvl1pPr marL="0" indent="0">
              <a:buNone/>
              <a:defRPr sz="3919"/>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38D2882-270D-4B7A-8EBC-E0122220075B}" type="datetime1">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99772" y="311394"/>
            <a:ext cx="2336483" cy="6634437"/>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062037" y="311392"/>
            <a:ext cx="6460728" cy="6634437"/>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61242-1A09-489F-B2FB-425770127E1E}" type="datetime1">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5" y="3"/>
            <a:ext cx="10620375" cy="7775575"/>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2204">
              <a:latin typeface="Times New Roman" panose="02020603050405020304" pitchFamily="18" charset="0"/>
              <a:cs typeface="Times New Roman" panose="02020603050405020304" pitchFamily="18" charset="0"/>
            </a:endParaRPr>
          </a:p>
        </p:txBody>
      </p:sp>
      <p:sp useBgFill="1">
        <p:nvSpPr>
          <p:cNvPr id="8" name="Rounded Rectangle 7"/>
          <p:cNvSpPr/>
          <p:nvPr/>
        </p:nvSpPr>
        <p:spPr>
          <a:xfrm>
            <a:off x="74349" y="79091"/>
            <a:ext cx="10468656" cy="758896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2204">
              <a:latin typeface="Times New Roman" panose="02020603050405020304" pitchFamily="18" charset="0"/>
              <a:cs typeface="Times New Roman" panose="02020603050405020304" pitchFamily="18" charset="0"/>
            </a:endParaRPr>
          </a:p>
        </p:txBody>
      </p:sp>
      <p:sp>
        <p:nvSpPr>
          <p:cNvPr id="22" name="Title Placeholder 21"/>
          <p:cNvSpPr>
            <a:spLocks noGrp="1"/>
          </p:cNvSpPr>
          <p:nvPr>
            <p:ph type="title"/>
          </p:nvPr>
        </p:nvSpPr>
        <p:spPr>
          <a:xfrm>
            <a:off x="1062038" y="311383"/>
            <a:ext cx="9027319" cy="129593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062038" y="1641511"/>
            <a:ext cx="9027319" cy="5183716"/>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7168758" y="7019617"/>
            <a:ext cx="2876351" cy="539970"/>
          </a:xfrm>
          <a:prstGeom prst="rect">
            <a:avLst/>
          </a:prstGeom>
        </p:spPr>
        <p:txBody>
          <a:bodyPr anchor="ctr" anchorCtr="0"/>
          <a:lstStyle>
            <a:lvl1pPr algn="r" eaLnBrk="1" latinLnBrk="0" hangingPunct="1">
              <a:defRPr kumimoji="0" sz="1714">
                <a:solidFill>
                  <a:schemeClr val="tx2"/>
                </a:solidFill>
                <a:latin typeface="Times New Roman" panose="02020603050405020304" pitchFamily="18" charset="0"/>
                <a:cs typeface="Times New Roman" panose="02020603050405020304" pitchFamily="18" charset="0"/>
              </a:defRPr>
            </a:lvl1pPr>
          </a:lstStyle>
          <a:p>
            <a:fld id="{1D39700D-3C47-4282-994E-98EEF571E3D6}" type="datetime1">
              <a:rPr lang="en-US" smtClean="0"/>
              <a:t>4/23/2026</a:t>
            </a:fld>
            <a:endParaRPr lang="en-US"/>
          </a:p>
        </p:txBody>
      </p:sp>
      <p:sp>
        <p:nvSpPr>
          <p:cNvPr id="3" name="Footer Placeholder 2"/>
          <p:cNvSpPr>
            <a:spLocks noGrp="1"/>
          </p:cNvSpPr>
          <p:nvPr>
            <p:ph type="ftr" sz="quarter" idx="3"/>
          </p:nvPr>
        </p:nvSpPr>
        <p:spPr>
          <a:xfrm>
            <a:off x="1062038" y="6998020"/>
            <a:ext cx="4602163" cy="518371"/>
          </a:xfrm>
          <a:prstGeom prst="rect">
            <a:avLst/>
          </a:prstGeom>
        </p:spPr>
        <p:txBody>
          <a:bodyPr anchor="ctr" anchorCtr="0"/>
          <a:lstStyle>
            <a:lvl1pPr eaLnBrk="1" latinLnBrk="0" hangingPunct="1">
              <a:defRPr kumimoji="0" sz="1714">
                <a:solidFill>
                  <a:schemeClr val="tx2"/>
                </a:solidFill>
                <a:latin typeface="Times New Roman" panose="02020603050405020304" pitchFamily="18" charset="0"/>
                <a:cs typeface="Times New Roman" panose="02020603050405020304" pitchFamily="18" charset="0"/>
              </a:defRPr>
            </a:lvl1pPr>
          </a:lstStyle>
          <a:p>
            <a:endParaRPr lang="en-US"/>
          </a:p>
        </p:txBody>
      </p:sp>
      <p:sp>
        <p:nvSpPr>
          <p:cNvPr id="23" name="Slide Number Placeholder 22"/>
          <p:cNvSpPr>
            <a:spLocks noGrp="1"/>
          </p:cNvSpPr>
          <p:nvPr>
            <p:ph type="sldNum" sz="quarter" idx="4"/>
          </p:nvPr>
        </p:nvSpPr>
        <p:spPr>
          <a:xfrm>
            <a:off x="169931" y="7041218"/>
            <a:ext cx="531018" cy="518371"/>
          </a:xfrm>
          <a:prstGeom prst="ellipse">
            <a:avLst/>
          </a:prstGeom>
          <a:noFill/>
          <a:ln>
            <a:solidFill>
              <a:srgbClr val="00B050"/>
            </a:solidFill>
          </a:ln>
        </p:spPr>
        <p:txBody>
          <a:bodyPr wrap="none" lIns="0" tIns="0" rIns="0" bIns="0" anchor="ctr" anchorCtr="1">
            <a:noAutofit/>
          </a:bodyPr>
          <a:lstStyle>
            <a:lvl1pPr algn="ctr" eaLnBrk="1" latinLnBrk="0" hangingPunct="1">
              <a:defRPr kumimoji="0" sz="1714">
                <a:solidFill>
                  <a:srgbClr val="C00000"/>
                </a:solidFill>
                <a:latin typeface="Times New Roman" panose="02020603050405020304" pitchFamily="18" charset="0"/>
                <a:ea typeface="+mj-ea"/>
                <a:cs typeface="Times New Roman" panose="02020603050405020304" pitchFamily="18" charset="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rtl="0" eaLnBrk="1" latinLnBrk="0" hangingPunct="1">
        <a:spcBef>
          <a:spcPct val="0"/>
        </a:spcBef>
        <a:buNone/>
        <a:defRPr kumimoji="0" sz="4899" kern="1200">
          <a:solidFill>
            <a:schemeClr val="tx2"/>
          </a:solidFill>
          <a:latin typeface="Times New Roman" panose="02020603050405020304" pitchFamily="18" charset="0"/>
          <a:ea typeface="+mj-ea"/>
          <a:cs typeface="Times New Roman" panose="02020603050405020304" pitchFamily="18" charset="0"/>
        </a:defRPr>
      </a:lvl1pPr>
    </p:titleStyle>
    <p:bodyStyle>
      <a:lvl1pPr marL="335983" indent="-335983" algn="l" rtl="0" eaLnBrk="1" latinLnBrk="0" hangingPunct="1">
        <a:spcBef>
          <a:spcPts val="711"/>
        </a:spcBef>
        <a:buClr>
          <a:schemeClr val="accent1"/>
        </a:buClr>
        <a:buSzPct val="85000"/>
        <a:buFont typeface="Wingdings 2"/>
        <a:buChar char=""/>
        <a:defRPr kumimoji="0" sz="3185" kern="1200">
          <a:solidFill>
            <a:schemeClr val="tx1"/>
          </a:solidFill>
          <a:latin typeface="Times New Roman" panose="02020603050405020304" pitchFamily="18" charset="0"/>
          <a:ea typeface="+mn-ea"/>
          <a:cs typeface="Times New Roman" panose="02020603050405020304" pitchFamily="18" charset="0"/>
        </a:defRPr>
      </a:lvl1pPr>
      <a:lvl2pPr marL="671963" indent="-279985" algn="l" rtl="0" eaLnBrk="1" latinLnBrk="0" hangingPunct="1">
        <a:spcBef>
          <a:spcPts val="454"/>
        </a:spcBef>
        <a:buClr>
          <a:schemeClr val="accent2"/>
        </a:buClr>
        <a:buSzPct val="85000"/>
        <a:buFont typeface="Wingdings 2"/>
        <a:buChar char=""/>
        <a:defRPr kumimoji="0" sz="2939" kern="1200">
          <a:solidFill>
            <a:schemeClr val="tx1"/>
          </a:solidFill>
          <a:latin typeface="Times New Roman" panose="02020603050405020304" pitchFamily="18" charset="0"/>
          <a:ea typeface="+mn-ea"/>
          <a:cs typeface="Times New Roman" panose="02020603050405020304" pitchFamily="18" charset="0"/>
        </a:defRPr>
      </a:lvl2pPr>
      <a:lvl3pPr marL="1007947" indent="-279985" algn="l" rtl="0" eaLnBrk="1" latinLnBrk="0" hangingPunct="1">
        <a:spcBef>
          <a:spcPts val="454"/>
        </a:spcBef>
        <a:buClr>
          <a:schemeClr val="accent1">
            <a:tint val="60000"/>
          </a:schemeClr>
        </a:buClr>
        <a:buSzPct val="85000"/>
        <a:buFont typeface="Wingdings 2"/>
        <a:buChar char=""/>
        <a:defRPr kumimoji="0" sz="2449" kern="1200">
          <a:solidFill>
            <a:schemeClr val="tx1"/>
          </a:solidFill>
          <a:latin typeface="Times New Roman" panose="02020603050405020304" pitchFamily="18" charset="0"/>
          <a:ea typeface="+mn-ea"/>
          <a:cs typeface="Times New Roman" panose="02020603050405020304" pitchFamily="18" charset="0"/>
        </a:defRPr>
      </a:lvl3pPr>
      <a:lvl4pPr marL="1343930" indent="-279985" algn="l" rtl="0" eaLnBrk="1" latinLnBrk="0" hangingPunct="1">
        <a:spcBef>
          <a:spcPts val="454"/>
        </a:spcBef>
        <a:buClr>
          <a:schemeClr val="accent3"/>
        </a:buClr>
        <a:buSzPct val="80000"/>
        <a:buFont typeface="Wingdings 2"/>
        <a:buChar char=""/>
        <a:defRPr kumimoji="0" sz="2449" kern="1200">
          <a:solidFill>
            <a:schemeClr val="tx1"/>
          </a:solidFill>
          <a:latin typeface="Times New Roman" panose="02020603050405020304" pitchFamily="18" charset="0"/>
          <a:ea typeface="+mn-ea"/>
          <a:cs typeface="Times New Roman" panose="02020603050405020304" pitchFamily="18" charset="0"/>
        </a:defRPr>
      </a:lvl4pPr>
      <a:lvl5pPr marL="1679911" indent="-279985" algn="l" rtl="0" eaLnBrk="1" latinLnBrk="0" hangingPunct="1">
        <a:spcBef>
          <a:spcPts val="454"/>
        </a:spcBef>
        <a:buClr>
          <a:schemeClr val="accent3"/>
        </a:buClr>
        <a:buFontTx/>
        <a:buChar char="o"/>
        <a:defRPr kumimoji="0" sz="2449" kern="1200">
          <a:solidFill>
            <a:schemeClr val="tx1"/>
          </a:solidFill>
          <a:latin typeface="Times New Roman" panose="02020603050405020304" pitchFamily="18" charset="0"/>
          <a:ea typeface="+mn-ea"/>
          <a:cs typeface="Times New Roman" panose="02020603050405020304" pitchFamily="18" charset="0"/>
        </a:defRPr>
      </a:lvl5pPr>
      <a:lvl6pPr marL="2015894" indent="-279985" algn="l" rtl="0" eaLnBrk="1" latinLnBrk="0" hangingPunct="1">
        <a:spcBef>
          <a:spcPts val="454"/>
        </a:spcBef>
        <a:buClr>
          <a:schemeClr val="accent3"/>
        </a:buClr>
        <a:buChar char="•"/>
        <a:defRPr kumimoji="0" sz="2204" kern="1200" baseline="0">
          <a:solidFill>
            <a:schemeClr val="tx1"/>
          </a:solidFill>
          <a:latin typeface="+mn-lt"/>
          <a:ea typeface="+mn-ea"/>
          <a:cs typeface="+mn-cs"/>
        </a:defRPr>
      </a:lvl6pPr>
      <a:lvl7pPr marL="2351877" indent="-279985" algn="l" rtl="0" eaLnBrk="1" latinLnBrk="0" hangingPunct="1">
        <a:spcBef>
          <a:spcPts val="454"/>
        </a:spcBef>
        <a:buClr>
          <a:schemeClr val="accent2"/>
        </a:buClr>
        <a:buChar char="•"/>
        <a:defRPr kumimoji="0" sz="2204" kern="1200">
          <a:solidFill>
            <a:schemeClr val="tx1"/>
          </a:solidFill>
          <a:latin typeface="+mn-lt"/>
          <a:ea typeface="+mn-ea"/>
          <a:cs typeface="+mn-cs"/>
        </a:defRPr>
      </a:lvl7pPr>
      <a:lvl8pPr marL="2687857" indent="-279985" algn="l" rtl="0" eaLnBrk="1" latinLnBrk="0" hangingPunct="1">
        <a:spcBef>
          <a:spcPts val="454"/>
        </a:spcBef>
        <a:buClr>
          <a:schemeClr val="accent1">
            <a:tint val="60000"/>
          </a:schemeClr>
        </a:buClr>
        <a:buChar char="•"/>
        <a:defRPr kumimoji="0" sz="2204" kern="1200">
          <a:solidFill>
            <a:schemeClr val="tx1"/>
          </a:solidFill>
          <a:latin typeface="+mn-lt"/>
          <a:ea typeface="+mn-ea"/>
          <a:cs typeface="+mn-cs"/>
        </a:defRPr>
      </a:lvl8pPr>
      <a:lvl9pPr marL="3023841" indent="-279985" algn="l" rtl="0" eaLnBrk="1" latinLnBrk="0" hangingPunct="1">
        <a:spcBef>
          <a:spcPts val="454"/>
        </a:spcBef>
        <a:buClr>
          <a:schemeClr val="accent2">
            <a:tint val="60000"/>
          </a:schemeClr>
        </a:buClr>
        <a:buChar char="•"/>
        <a:defRPr kumimoji="0" sz="2204"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59972" algn="l" rtl="0" eaLnBrk="1" latinLnBrk="0" hangingPunct="1">
        <a:defRPr kumimoji="0" kern="1200">
          <a:solidFill>
            <a:schemeClr val="tx1"/>
          </a:solidFill>
          <a:latin typeface="+mn-lt"/>
          <a:ea typeface="+mn-ea"/>
          <a:cs typeface="+mn-cs"/>
        </a:defRPr>
      </a:lvl2pPr>
      <a:lvl3pPr marL="1119940" algn="l" rtl="0" eaLnBrk="1" latinLnBrk="0" hangingPunct="1">
        <a:defRPr kumimoji="0" kern="1200">
          <a:solidFill>
            <a:schemeClr val="tx1"/>
          </a:solidFill>
          <a:latin typeface="+mn-lt"/>
          <a:ea typeface="+mn-ea"/>
          <a:cs typeface="+mn-cs"/>
        </a:defRPr>
      </a:lvl3pPr>
      <a:lvl4pPr marL="1679911" algn="l" rtl="0" eaLnBrk="1" latinLnBrk="0" hangingPunct="1">
        <a:defRPr kumimoji="0" kern="1200">
          <a:solidFill>
            <a:schemeClr val="tx1"/>
          </a:solidFill>
          <a:latin typeface="+mn-lt"/>
          <a:ea typeface="+mn-ea"/>
          <a:cs typeface="+mn-cs"/>
        </a:defRPr>
      </a:lvl4pPr>
      <a:lvl5pPr marL="2239883" algn="l" rtl="0" eaLnBrk="1" latinLnBrk="0" hangingPunct="1">
        <a:defRPr kumimoji="0" kern="1200">
          <a:solidFill>
            <a:schemeClr val="tx1"/>
          </a:solidFill>
          <a:latin typeface="+mn-lt"/>
          <a:ea typeface="+mn-ea"/>
          <a:cs typeface="+mn-cs"/>
        </a:defRPr>
      </a:lvl5pPr>
      <a:lvl6pPr marL="2799853" algn="l" rtl="0" eaLnBrk="1" latinLnBrk="0" hangingPunct="1">
        <a:defRPr kumimoji="0" kern="1200">
          <a:solidFill>
            <a:schemeClr val="tx1"/>
          </a:solidFill>
          <a:latin typeface="+mn-lt"/>
          <a:ea typeface="+mn-ea"/>
          <a:cs typeface="+mn-cs"/>
        </a:defRPr>
      </a:lvl6pPr>
      <a:lvl7pPr marL="3359823" algn="l" rtl="0" eaLnBrk="1" latinLnBrk="0" hangingPunct="1">
        <a:defRPr kumimoji="0" kern="1200">
          <a:solidFill>
            <a:schemeClr val="tx1"/>
          </a:solidFill>
          <a:latin typeface="+mn-lt"/>
          <a:ea typeface="+mn-ea"/>
          <a:cs typeface="+mn-cs"/>
        </a:defRPr>
      </a:lvl7pPr>
      <a:lvl8pPr marL="3919792" algn="l" rtl="0" eaLnBrk="1" latinLnBrk="0" hangingPunct="1">
        <a:defRPr kumimoji="0" kern="1200">
          <a:solidFill>
            <a:schemeClr val="tx1"/>
          </a:solidFill>
          <a:latin typeface="+mn-lt"/>
          <a:ea typeface="+mn-ea"/>
          <a:cs typeface="+mn-cs"/>
        </a:defRPr>
      </a:lvl8pPr>
      <a:lvl9pPr marL="4479764"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2"/>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11992" tIns="55996" rIns="111992" bIns="55996" numCol="1" anchor="ctr" anchorCtr="0" compatLnSpc="1">
            <a:prstTxWarp prst="textNoShape">
              <a:avLst/>
            </a:prstTxWarp>
          </a:bodyPr>
          <a:lstStyle>
            <a:lvl1pPr>
              <a:defRPr>
                <a:solidFill>
                  <a:schemeClr val="tx1"/>
                </a:solidFill>
                <a:latin typeface="Perpetua" panose="02020502060401020303" pitchFamily="18" charset="0"/>
              </a:defRPr>
            </a:lvl1pPr>
            <a:lvl2pPr marL="909951" indent="-349982">
              <a:defRPr>
                <a:solidFill>
                  <a:schemeClr val="tx1"/>
                </a:solidFill>
                <a:latin typeface="Perpetua" panose="02020502060401020303" pitchFamily="18" charset="0"/>
              </a:defRPr>
            </a:lvl2pPr>
            <a:lvl3pPr marL="1399926" indent="-279985">
              <a:defRPr>
                <a:solidFill>
                  <a:schemeClr val="tx1"/>
                </a:solidFill>
                <a:latin typeface="Perpetua" panose="02020502060401020303" pitchFamily="18" charset="0"/>
              </a:defRPr>
            </a:lvl3pPr>
            <a:lvl4pPr marL="1959898" indent="-279985">
              <a:defRPr>
                <a:solidFill>
                  <a:schemeClr val="tx1"/>
                </a:solidFill>
                <a:latin typeface="Perpetua" panose="02020502060401020303" pitchFamily="18" charset="0"/>
              </a:defRPr>
            </a:lvl4pPr>
            <a:lvl5pPr marL="2519867" indent="-279985">
              <a:defRPr>
                <a:solidFill>
                  <a:schemeClr val="tx1"/>
                </a:solidFill>
                <a:latin typeface="Perpetua" panose="02020502060401020303" pitchFamily="18" charset="0"/>
              </a:defRPr>
            </a:lvl5pPr>
            <a:lvl6pPr marL="3079839" indent="-279985" fontAlgn="base">
              <a:spcBef>
                <a:spcPct val="0"/>
              </a:spcBef>
              <a:spcAft>
                <a:spcPct val="0"/>
              </a:spcAft>
              <a:defRPr>
                <a:solidFill>
                  <a:schemeClr val="tx1"/>
                </a:solidFill>
                <a:latin typeface="Perpetua" panose="02020502060401020303" pitchFamily="18" charset="0"/>
              </a:defRPr>
            </a:lvl6pPr>
            <a:lvl7pPr marL="3639807" indent="-279985" fontAlgn="base">
              <a:spcBef>
                <a:spcPct val="0"/>
              </a:spcBef>
              <a:spcAft>
                <a:spcPct val="0"/>
              </a:spcAft>
              <a:defRPr>
                <a:solidFill>
                  <a:schemeClr val="tx1"/>
                </a:solidFill>
                <a:latin typeface="Perpetua" panose="02020502060401020303" pitchFamily="18" charset="0"/>
              </a:defRPr>
            </a:lvl7pPr>
            <a:lvl8pPr marL="4199778" indent="-279985" fontAlgn="base">
              <a:spcBef>
                <a:spcPct val="0"/>
              </a:spcBef>
              <a:spcAft>
                <a:spcPct val="0"/>
              </a:spcAft>
              <a:defRPr>
                <a:solidFill>
                  <a:schemeClr val="tx1"/>
                </a:solidFill>
                <a:latin typeface="Perpetua" panose="02020502060401020303" pitchFamily="18" charset="0"/>
              </a:defRPr>
            </a:lvl8pPr>
            <a:lvl9pPr marL="4759749" indent="-279985" fontAlgn="base">
              <a:spcBef>
                <a:spcPct val="0"/>
              </a:spcBef>
              <a:spcAft>
                <a:spcPct val="0"/>
              </a:spcAft>
              <a:defRPr>
                <a:solidFill>
                  <a:schemeClr val="tx1"/>
                </a:solidFill>
                <a:latin typeface="Perpetua" panose="02020502060401020303" pitchFamily="18" charset="0"/>
              </a:defRPr>
            </a:lvl9pPr>
          </a:lstStyle>
          <a:p>
            <a:pPr fontAlgn="base">
              <a:spcBef>
                <a:spcPct val="0"/>
              </a:spcBef>
              <a:spcAft>
                <a:spcPct val="0"/>
              </a:spcAft>
            </a:pPr>
            <a:fld id="{3F55AEE3-A14F-4D81-9F34-9841E30EA029}" type="datetime1">
              <a:rPr lang="en-US" altLang="en-US" smtClean="0">
                <a:solidFill>
                  <a:schemeClr val="tx2"/>
                </a:solidFill>
                <a:latin typeface="Times New Roman" panose="02020603050405020304" pitchFamily="18" charset="0"/>
              </a:rPr>
              <a:t>4/23/2026</a:t>
            </a:fld>
            <a:endParaRPr lang="en-US" altLang="en-US" dirty="0">
              <a:solidFill>
                <a:schemeClr val="tx2"/>
              </a:solidFill>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4A5DB25D-1D9E-428B-BE35-A0FB0ECB4DD5}" type="slidenum">
              <a:rPr lang="en-US"/>
              <a:pPr>
                <a:defRPr/>
              </a:pPr>
              <a:t>1</a:t>
            </a:fld>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54" y="112639"/>
            <a:ext cx="1451050" cy="1734322"/>
          </a:xfrm>
          <a:prstGeom prst="rect">
            <a:avLst/>
          </a:prstGeom>
          <a:ln>
            <a:noFill/>
          </a:ln>
        </p:spPr>
      </p:pic>
      <p:sp>
        <p:nvSpPr>
          <p:cNvPr id="13" name="Rectangle 12"/>
          <p:cNvSpPr/>
          <p:nvPr/>
        </p:nvSpPr>
        <p:spPr>
          <a:xfrm>
            <a:off x="1096071" y="112641"/>
            <a:ext cx="9414094" cy="1034642"/>
          </a:xfrm>
          <a:prstGeom prst="rect">
            <a:avLst/>
          </a:prstGeom>
        </p:spPr>
        <p:txBody>
          <a:bodyPr wrap="square">
            <a:spAutoFit/>
          </a:bodyPr>
          <a:lstStyle/>
          <a:p>
            <a:pPr algn="ctr">
              <a:lnSpc>
                <a:spcPct val="100000"/>
              </a:lnSpc>
            </a:pPr>
            <a:r>
              <a:rPr lang="en-US" sz="3429" dirty="0" err="1">
                <a:solidFill>
                  <a:srgbClr val="C00000"/>
                </a:solidFill>
                <a:latin typeface="Times New Roman" panose="02020603050405020304" pitchFamily="18" charset="0"/>
                <a:cs typeface="Times New Roman" panose="02020603050405020304" pitchFamily="18" charset="0"/>
              </a:rPr>
              <a:t>Lingayas</a:t>
            </a:r>
            <a:r>
              <a:rPr lang="en-US" sz="3429" dirty="0">
                <a:solidFill>
                  <a:srgbClr val="C00000"/>
                </a:solidFill>
                <a:latin typeface="Times New Roman" panose="02020603050405020304" pitchFamily="18" charset="0"/>
                <a:cs typeface="Times New Roman" panose="02020603050405020304" pitchFamily="18" charset="0"/>
              </a:rPr>
              <a:t> Institute of Management and Technology </a:t>
            </a:r>
          </a:p>
          <a:p>
            <a:pPr algn="ctr"/>
            <a:r>
              <a:rPr lang="en-US" sz="1347" b="1" dirty="0">
                <a:latin typeface="Times New Roman" panose="02020603050405020304" pitchFamily="18" charset="0"/>
                <a:ea typeface="Batang" panose="02030600000101010101" pitchFamily="18" charset="-127"/>
                <a:cs typeface="Times New Roman" panose="02020603050405020304" pitchFamily="18" charset="0"/>
              </a:rPr>
              <a:t>Approved by AICTE, Affiliated to JNTU Kakinada, </a:t>
            </a:r>
            <a:r>
              <a:rPr lang="en-US" sz="1347" b="1" dirty="0">
                <a:solidFill>
                  <a:srgbClr val="C00000"/>
                </a:solidFill>
                <a:latin typeface="Times New Roman" panose="02020603050405020304" pitchFamily="18" charset="0"/>
                <a:cs typeface="Times New Roman" panose="02020603050405020304" pitchFamily="18" charset="0"/>
              </a:rPr>
              <a:t>Accredited with </a:t>
            </a:r>
            <a:r>
              <a:rPr lang="en-US" sz="1347" b="1" u="sng" dirty="0">
                <a:solidFill>
                  <a:srgbClr val="C00000"/>
                </a:solidFill>
                <a:latin typeface="Times New Roman" panose="02020603050405020304" pitchFamily="18" charset="0"/>
                <a:cs typeface="Times New Roman" panose="02020603050405020304" pitchFamily="18" charset="0"/>
              </a:rPr>
              <a:t>A Grade by NAAC </a:t>
            </a:r>
            <a:r>
              <a:rPr lang="en-US" sz="1347" b="1" dirty="0">
                <a:solidFill>
                  <a:srgbClr val="C00000"/>
                </a:solidFill>
                <a:latin typeface="Times New Roman" panose="02020603050405020304" pitchFamily="18" charset="0"/>
                <a:cs typeface="Times New Roman" panose="02020603050405020304" pitchFamily="18" charset="0"/>
              </a:rPr>
              <a:t>and </a:t>
            </a:r>
          </a:p>
          <a:p>
            <a:pPr algn="ctr"/>
            <a:r>
              <a:rPr lang="en-US" sz="1347" b="1" u="sng" dirty="0">
                <a:solidFill>
                  <a:srgbClr val="002060"/>
                </a:solidFill>
                <a:latin typeface="Times New Roman" panose="02020603050405020304" pitchFamily="18" charset="0"/>
                <a:cs typeface="Times New Roman" panose="02020603050405020304" pitchFamily="18" charset="0"/>
              </a:rPr>
              <a:t>UG-CSE is accredited by NBA</a:t>
            </a:r>
          </a:p>
        </p:txBody>
      </p:sp>
      <p:sp>
        <p:nvSpPr>
          <p:cNvPr id="14" name="Rectangle 13"/>
          <p:cNvSpPr/>
          <p:nvPr/>
        </p:nvSpPr>
        <p:spPr>
          <a:xfrm>
            <a:off x="1114715" y="1655592"/>
            <a:ext cx="8390944" cy="646331"/>
          </a:xfrm>
          <a:prstGeom prst="rect">
            <a:avLst/>
          </a:prstGeom>
        </p:spPr>
        <p:txBody>
          <a:bodyPr wrap="square">
            <a:spAutoFit/>
          </a:bodyPr>
          <a:lstStyle/>
          <a:p>
            <a:pPr algn="ctr"/>
            <a:r>
              <a:rPr lang="en-US" sz="3600" dirty="0">
                <a:latin typeface="Times New Roman" panose="02020603050405020304" pitchFamily="18" charset="0"/>
                <a:cs typeface="Times New Roman" panose="02020603050405020304" pitchFamily="18" charset="0"/>
              </a:rPr>
              <a:t>IV-II Project Viva-voce on</a:t>
            </a:r>
          </a:p>
        </p:txBody>
      </p:sp>
      <p:sp>
        <p:nvSpPr>
          <p:cNvPr id="16" name="Rectangle 15"/>
          <p:cNvSpPr/>
          <p:nvPr/>
        </p:nvSpPr>
        <p:spPr>
          <a:xfrm>
            <a:off x="1812210" y="6136810"/>
            <a:ext cx="6995954" cy="469231"/>
          </a:xfrm>
          <a:prstGeom prst="rect">
            <a:avLst/>
          </a:prstGeom>
        </p:spPr>
        <p:txBody>
          <a:bodyPr wrap="none">
            <a:spAutoFit/>
          </a:bodyPr>
          <a:lstStyle/>
          <a:p>
            <a:pPr algn="ctr"/>
            <a:r>
              <a:rPr lang="en-US" sz="2449" b="1" dirty="0">
                <a:solidFill>
                  <a:schemeClr val="accent1"/>
                </a:solidFill>
                <a:latin typeface="Times New Roman" panose="02020603050405020304" pitchFamily="18" charset="0"/>
                <a:cs typeface="Times New Roman" panose="02020603050405020304" pitchFamily="18" charset="0"/>
              </a:rPr>
              <a:t>Department of </a:t>
            </a:r>
            <a:r>
              <a:rPr lang="en-US" sz="1960" b="1" dirty="0">
                <a:latin typeface="Times New Roman" panose="02020603050405020304" pitchFamily="18" charset="0"/>
                <a:cs typeface="Times New Roman" panose="02020603050405020304" pitchFamily="18" charset="0"/>
              </a:rPr>
              <a:t>Artificial Intelligence and Machine learning </a:t>
            </a:r>
          </a:p>
        </p:txBody>
      </p:sp>
      <p:sp>
        <p:nvSpPr>
          <p:cNvPr id="17" name="Rectangle 16"/>
          <p:cNvSpPr/>
          <p:nvPr/>
        </p:nvSpPr>
        <p:spPr>
          <a:xfrm>
            <a:off x="435440" y="4509829"/>
            <a:ext cx="3233578" cy="770724"/>
          </a:xfrm>
          <a:prstGeom prst="rect">
            <a:avLst/>
          </a:prstGeom>
        </p:spPr>
        <p:txBody>
          <a:bodyPr wrap="none">
            <a:spAutoFit/>
          </a:bodyPr>
          <a:lstStyle/>
          <a:p>
            <a:r>
              <a:rPr lang="en-US" sz="2204" b="1" dirty="0">
                <a:latin typeface="Times New Roman" panose="02020603050405020304" pitchFamily="18" charset="0"/>
                <a:cs typeface="Times New Roman" panose="02020603050405020304" pitchFamily="18" charset="0"/>
              </a:rPr>
              <a:t>22NA1A6103 T. Venkat</a:t>
            </a:r>
          </a:p>
          <a:p>
            <a:r>
              <a:rPr lang="en-US" sz="2204" b="1" dirty="0">
                <a:latin typeface="Times New Roman" panose="02020603050405020304" pitchFamily="18" charset="0"/>
                <a:cs typeface="Times New Roman" panose="02020603050405020304" pitchFamily="18" charset="0"/>
              </a:rPr>
              <a:t>22NA1A6102 M. Moksha</a:t>
            </a:r>
            <a:endParaRPr lang="en-US" sz="2204" dirty="0">
              <a:latin typeface="Times New Roman" panose="02020603050405020304" pitchFamily="18" charset="0"/>
              <a:cs typeface="Times New Roman" panose="02020603050405020304" pitchFamily="18" charset="0"/>
            </a:endParaRPr>
          </a:p>
        </p:txBody>
      </p:sp>
      <p:sp>
        <p:nvSpPr>
          <p:cNvPr id="18" name="Rectangle 17"/>
          <p:cNvSpPr/>
          <p:nvPr/>
        </p:nvSpPr>
        <p:spPr>
          <a:xfrm>
            <a:off x="7294835" y="4509829"/>
            <a:ext cx="3035383" cy="1109919"/>
          </a:xfrm>
          <a:prstGeom prst="rect">
            <a:avLst/>
          </a:prstGeom>
        </p:spPr>
        <p:txBody>
          <a:bodyPr wrap="none">
            <a:spAutoFit/>
          </a:bodyPr>
          <a:lstStyle/>
          <a:p>
            <a:pPr algn="ctr"/>
            <a:r>
              <a:rPr lang="en-US" sz="2204" b="1" dirty="0">
                <a:latin typeface="Times New Roman" panose="02020603050405020304" pitchFamily="18" charset="0"/>
                <a:cs typeface="Times New Roman" panose="02020603050405020304" pitchFamily="18" charset="0"/>
              </a:rPr>
              <a:t>Under the Guidance of</a:t>
            </a:r>
          </a:p>
          <a:p>
            <a:pPr algn="ctr"/>
            <a:r>
              <a:rPr lang="en-US" sz="2204" b="1" dirty="0">
                <a:latin typeface="Times New Roman" panose="02020603050405020304" pitchFamily="18" charset="0"/>
                <a:cs typeface="Times New Roman" panose="02020603050405020304" pitchFamily="18" charset="0"/>
              </a:rPr>
              <a:t>Guide: </a:t>
            </a:r>
            <a:r>
              <a:rPr lang="en-US" sz="2204" b="1" dirty="0">
                <a:solidFill>
                  <a:schemeClr val="accent1"/>
                </a:solidFill>
                <a:latin typeface="Times New Roman" panose="02020603050405020304" pitchFamily="18" charset="0"/>
                <a:cs typeface="Times New Roman" panose="02020603050405020304" pitchFamily="18" charset="0"/>
              </a:rPr>
              <a:t>Prof A. Rajesh</a:t>
            </a:r>
          </a:p>
          <a:p>
            <a:pPr algn="ctr"/>
            <a:r>
              <a:rPr lang="en-US" sz="2204" b="1" dirty="0">
                <a:latin typeface="Times New Roman" panose="02020603050405020304" pitchFamily="18" charset="0"/>
                <a:cs typeface="Times New Roman" panose="02020603050405020304" pitchFamily="18" charset="0"/>
              </a:rPr>
              <a:t>Co-guide : </a:t>
            </a:r>
            <a:r>
              <a:rPr lang="en-US" sz="2204" b="1" dirty="0">
                <a:solidFill>
                  <a:schemeClr val="accent1"/>
                </a:solidFill>
                <a:latin typeface="Times New Roman" panose="02020603050405020304" pitchFamily="18" charset="0"/>
                <a:cs typeface="Times New Roman" panose="02020603050405020304" pitchFamily="18" charset="0"/>
              </a:rPr>
              <a:t>Prof.</a:t>
            </a:r>
            <a:r>
              <a:rPr lang="en-US" sz="2204" b="1" dirty="0">
                <a:latin typeface="Times New Roman" panose="02020603050405020304" pitchFamily="18" charset="0"/>
                <a:cs typeface="Times New Roman" panose="02020603050405020304" pitchFamily="18" charset="0"/>
              </a:rPr>
              <a:t> </a:t>
            </a:r>
            <a:r>
              <a:rPr lang="en-US" sz="2204" b="1" dirty="0">
                <a:solidFill>
                  <a:schemeClr val="accent1"/>
                </a:solidFill>
                <a:latin typeface="Times New Roman" panose="02020603050405020304" pitchFamily="18" charset="0"/>
                <a:cs typeface="Times New Roman" panose="02020603050405020304" pitchFamily="18" charset="0"/>
              </a:rPr>
              <a:t>Jyothi</a:t>
            </a:r>
          </a:p>
        </p:txBody>
      </p:sp>
      <p:sp>
        <p:nvSpPr>
          <p:cNvPr id="2" name="TextBox 1">
            <a:extLst>
              <a:ext uri="{FF2B5EF4-FFF2-40B4-BE49-F238E27FC236}">
                <a16:creationId xmlns:a16="http://schemas.microsoft.com/office/drawing/2014/main" id="{EDEC68BE-FF68-DAA5-6FBA-DD2B2AF19A3B}"/>
              </a:ext>
            </a:extLst>
          </p:cNvPr>
          <p:cNvSpPr txBox="1"/>
          <p:nvPr/>
        </p:nvSpPr>
        <p:spPr>
          <a:xfrm>
            <a:off x="45313" y="2774430"/>
            <a:ext cx="10529747" cy="1477328"/>
          </a:xfrm>
          <a:prstGeom prst="rect">
            <a:avLst/>
          </a:prstGeom>
          <a:noFill/>
        </p:spPr>
        <p:txBody>
          <a:bodyPr wrap="square" rtlCol="0">
            <a:spAutoFit/>
          </a:bodyPr>
          <a:lstStyle/>
          <a:p>
            <a:pPr algn="ctr"/>
            <a:r>
              <a:rPr lang="en-US" sz="3000" dirty="0" err="1">
                <a:latin typeface="Times New Roman" panose="02020603050405020304" pitchFamily="18" charset="0"/>
                <a:cs typeface="Times New Roman" panose="02020603050405020304" pitchFamily="18" charset="0"/>
              </a:rPr>
              <a:t>Gitscope</a:t>
            </a:r>
            <a:r>
              <a:rPr lang="en-US" sz="3000" dirty="0">
                <a:latin typeface="Times New Roman" panose="02020603050405020304" pitchFamily="18" charset="0"/>
                <a:cs typeface="Times New Roman" panose="02020603050405020304" pitchFamily="18" charset="0"/>
              </a:rPr>
              <a:t> AI: A Unified Pre-Commit Intelligence Framework for Multi-Dimensional Repository Risk and Popularity Analytics in GitHub Ecosystems </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391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Date Placeholder 2"/>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11992" tIns="55996" rIns="111992" bIns="55996" numCol="1" anchor="ctr" anchorCtr="0" compatLnSpc="1">
            <a:prstTxWarp prst="textNoShape">
              <a:avLst/>
            </a:prstTxWarp>
          </a:bodyPr>
          <a:lstStyle>
            <a:lvl1pPr>
              <a:defRPr>
                <a:solidFill>
                  <a:schemeClr val="tx1"/>
                </a:solidFill>
                <a:latin typeface="Perpetua" panose="02020502060401020303" pitchFamily="18" charset="0"/>
              </a:defRPr>
            </a:lvl1pPr>
            <a:lvl2pPr marL="909951" indent="-349982">
              <a:defRPr>
                <a:solidFill>
                  <a:schemeClr val="tx1"/>
                </a:solidFill>
                <a:latin typeface="Perpetua" panose="02020502060401020303" pitchFamily="18" charset="0"/>
              </a:defRPr>
            </a:lvl2pPr>
            <a:lvl3pPr marL="1399926" indent="-279985">
              <a:defRPr>
                <a:solidFill>
                  <a:schemeClr val="tx1"/>
                </a:solidFill>
                <a:latin typeface="Perpetua" panose="02020502060401020303" pitchFamily="18" charset="0"/>
              </a:defRPr>
            </a:lvl3pPr>
            <a:lvl4pPr marL="1959898" indent="-279985">
              <a:defRPr>
                <a:solidFill>
                  <a:schemeClr val="tx1"/>
                </a:solidFill>
                <a:latin typeface="Perpetua" panose="02020502060401020303" pitchFamily="18" charset="0"/>
              </a:defRPr>
            </a:lvl4pPr>
            <a:lvl5pPr marL="2519867" indent="-279985">
              <a:defRPr>
                <a:solidFill>
                  <a:schemeClr val="tx1"/>
                </a:solidFill>
                <a:latin typeface="Perpetua" panose="02020502060401020303" pitchFamily="18" charset="0"/>
              </a:defRPr>
            </a:lvl5pPr>
            <a:lvl6pPr marL="3079839" indent="-279985" eaLnBrk="0" fontAlgn="base" hangingPunct="0">
              <a:spcBef>
                <a:spcPct val="0"/>
              </a:spcBef>
              <a:spcAft>
                <a:spcPct val="0"/>
              </a:spcAft>
              <a:defRPr>
                <a:solidFill>
                  <a:schemeClr val="tx1"/>
                </a:solidFill>
                <a:latin typeface="Perpetua" panose="02020502060401020303" pitchFamily="18" charset="0"/>
              </a:defRPr>
            </a:lvl6pPr>
            <a:lvl7pPr marL="3639807" indent="-279985" eaLnBrk="0" fontAlgn="base" hangingPunct="0">
              <a:spcBef>
                <a:spcPct val="0"/>
              </a:spcBef>
              <a:spcAft>
                <a:spcPct val="0"/>
              </a:spcAft>
              <a:defRPr>
                <a:solidFill>
                  <a:schemeClr val="tx1"/>
                </a:solidFill>
                <a:latin typeface="Perpetua" panose="02020502060401020303" pitchFamily="18" charset="0"/>
              </a:defRPr>
            </a:lvl7pPr>
            <a:lvl8pPr marL="4199778" indent="-279985" eaLnBrk="0" fontAlgn="base" hangingPunct="0">
              <a:spcBef>
                <a:spcPct val="0"/>
              </a:spcBef>
              <a:spcAft>
                <a:spcPct val="0"/>
              </a:spcAft>
              <a:defRPr>
                <a:solidFill>
                  <a:schemeClr val="tx1"/>
                </a:solidFill>
                <a:latin typeface="Perpetua" panose="02020502060401020303" pitchFamily="18" charset="0"/>
              </a:defRPr>
            </a:lvl8pPr>
            <a:lvl9pPr marL="4759749" indent="-279985" eaLnBrk="0" fontAlgn="base" hangingPunct="0">
              <a:spcBef>
                <a:spcPct val="0"/>
              </a:spcBef>
              <a:spcAft>
                <a:spcPct val="0"/>
              </a:spcAft>
              <a:defRPr>
                <a:solidFill>
                  <a:schemeClr val="tx1"/>
                </a:solidFill>
                <a:latin typeface="Perpetua" panose="02020502060401020303" pitchFamily="18" charset="0"/>
              </a:defRPr>
            </a:lvl9pPr>
          </a:lstStyle>
          <a:p>
            <a:pPr fontAlgn="base">
              <a:spcBef>
                <a:spcPct val="0"/>
              </a:spcBef>
              <a:spcAft>
                <a:spcPct val="0"/>
              </a:spcAft>
            </a:pPr>
            <a:fld id="{32222189-C426-4269-8DC7-46111CF70155}" type="datetime1">
              <a:rPr lang="en-US" altLang="en-US" smtClean="0">
                <a:solidFill>
                  <a:schemeClr val="tx2"/>
                </a:solidFill>
                <a:latin typeface="Times New Roman" panose="02020603050405020304" pitchFamily="18" charset="0"/>
              </a:rPr>
              <a:t>4/23/2026</a:t>
            </a:fld>
            <a:endParaRPr lang="en-US" altLang="en-US">
              <a:solidFill>
                <a:schemeClr val="tx2"/>
              </a:solidFill>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1CFA304E-1BFF-4966-854F-A47C45692376}" type="slidenum">
              <a:rPr lang="en-US"/>
              <a:pPr>
                <a:defRPr/>
              </a:pPr>
              <a:t>2</a:t>
            </a:fld>
            <a:endParaRPr lang="en-US"/>
          </a:p>
        </p:txBody>
      </p:sp>
      <p:sp>
        <p:nvSpPr>
          <p:cNvPr id="16" name="Rectangle 15"/>
          <p:cNvSpPr/>
          <p:nvPr/>
        </p:nvSpPr>
        <p:spPr>
          <a:xfrm>
            <a:off x="2230396" y="5304"/>
            <a:ext cx="6159581" cy="707886"/>
          </a:xfrm>
          <a:prstGeom prst="rect">
            <a:avLst/>
          </a:prstGeom>
        </p:spPr>
        <p:txBody>
          <a:bodyPr wrap="square">
            <a:spAutoFit/>
          </a:bodyPr>
          <a:lstStyle/>
          <a:p>
            <a:pPr algn="ctr"/>
            <a:r>
              <a:rPr lang="en-US" sz="4000" b="1" dirty="0">
                <a:solidFill>
                  <a:srgbClr val="002060"/>
                </a:solidFill>
                <a:latin typeface="Times New Roman" panose="02020603050405020304" pitchFamily="18" charset="0"/>
                <a:cs typeface="Times New Roman" panose="02020603050405020304" pitchFamily="18" charset="0"/>
              </a:rPr>
              <a:t>Contents</a:t>
            </a:r>
            <a:endParaRPr lang="en-US" sz="4000" dirty="0">
              <a:solidFill>
                <a:srgbClr val="002060"/>
              </a:solidFill>
              <a:latin typeface="Times New Roman" panose="02020603050405020304" pitchFamily="18" charset="0"/>
              <a:cs typeface="Times New Roman" panose="02020603050405020304" pitchFamily="18" charset="0"/>
            </a:endParaRPr>
          </a:p>
        </p:txBody>
      </p:sp>
      <p:sp>
        <p:nvSpPr>
          <p:cNvPr id="6" name="Text Placeholder 4">
            <a:extLst>
              <a:ext uri="{FF2B5EF4-FFF2-40B4-BE49-F238E27FC236}">
                <a16:creationId xmlns:a16="http://schemas.microsoft.com/office/drawing/2014/main" id="{53ADEBCE-2029-4577-8BB2-DBD2425382BA}"/>
              </a:ext>
            </a:extLst>
          </p:cNvPr>
          <p:cNvSpPr txBox="1">
            <a:spLocks/>
          </p:cNvSpPr>
          <p:nvPr/>
        </p:nvSpPr>
        <p:spPr>
          <a:xfrm>
            <a:off x="317192" y="681823"/>
            <a:ext cx="9985987" cy="6306748"/>
          </a:xfrm>
          <a:prstGeom prst="rect">
            <a:avLst/>
          </a:prstGeom>
        </p:spPr>
        <p:txBody>
          <a:bodyPr/>
          <a:lstStyle>
            <a:lvl1pPr marL="342900" indent="-342900" algn="l" defTabSz="914400" eaLnBrk="1" fontAlgn="auto" latinLnBrk="0" hangingPunct="1">
              <a:spcBef>
                <a:spcPts val="1000"/>
              </a:spcBef>
              <a:spcAft>
                <a:spcPts val="0"/>
              </a:spcAft>
              <a:buClr>
                <a:schemeClr val="accent1"/>
              </a:buClr>
              <a:buSzPct val="80000"/>
              <a:buFont typeface="Wingdings 3" charset="2"/>
              <a:buChar char=""/>
              <a:defRPr sz="1800" kern="1200">
                <a:solidFill>
                  <a:srgbClr val="404040"/>
                </a:solidFill>
                <a:latin typeface="Trebuchet MS" charset="0"/>
                <a:ea typeface="华文新魏" charset="0"/>
                <a:cs typeface="Trebuchet MS" charset="0"/>
              </a:defRPr>
            </a:lvl1pPr>
            <a:lvl2pPr marL="742950" indent="-285750" algn="l" defTabSz="914400" eaLnBrk="1" fontAlgn="auto" latinLnBrk="0" hangingPunct="1">
              <a:spcBef>
                <a:spcPts val="1000"/>
              </a:spcBef>
              <a:spcAft>
                <a:spcPts val="0"/>
              </a:spcAft>
              <a:buClr>
                <a:schemeClr val="accent1"/>
              </a:buClr>
              <a:buSzPct val="80000"/>
              <a:buFont typeface="Wingdings 3" charset="2"/>
              <a:buChar char=""/>
              <a:defRPr sz="1600" kern="1200">
                <a:solidFill>
                  <a:srgbClr val="404040"/>
                </a:solidFill>
                <a:latin typeface="Trebuchet MS" charset="0"/>
                <a:ea typeface="华文新魏" charset="0"/>
                <a:cs typeface="Trebuchet MS" charset="0"/>
              </a:defRPr>
            </a:lvl2pPr>
            <a:lvl3pPr marL="1143000" indent="-228600" algn="l" defTabSz="914400" eaLnBrk="1" fontAlgn="auto" latinLnBrk="0" hangingPunct="1">
              <a:spcBef>
                <a:spcPts val="1000"/>
              </a:spcBef>
              <a:spcAft>
                <a:spcPts val="0"/>
              </a:spcAft>
              <a:buClr>
                <a:schemeClr val="accent1"/>
              </a:buClr>
              <a:buSzPct val="80000"/>
              <a:buFont typeface="Wingdings 3" charset="2"/>
              <a:buChar char=""/>
              <a:defRPr sz="1400" kern="1200">
                <a:solidFill>
                  <a:srgbClr val="404040"/>
                </a:solidFill>
                <a:latin typeface="Trebuchet MS" charset="0"/>
                <a:ea typeface="华文新魏" charset="0"/>
                <a:cs typeface="Trebuchet MS" charset="0"/>
              </a:defRPr>
            </a:lvl3pPr>
            <a:lvl4pPr marL="16002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4pPr>
            <a:lvl5pPr marL="20574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5pPr>
            <a:lvl6pPr marL="25146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6pPr>
            <a:lvl7pPr marL="29718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7pPr>
            <a:lvl8pPr marL="34290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8pPr>
            <a:lvl9pPr marL="34290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9pPr>
          </a:lstStyle>
          <a:p>
            <a:pPr algn="just">
              <a:lnSpc>
                <a:spcPct val="150000"/>
              </a:lnSpc>
              <a:buFont typeface="Wingdings" panose="05000000000000000000" pitchFamily="2" charset="2"/>
              <a:buChar char="Ø"/>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Abstract </a:t>
            </a:r>
          </a:p>
          <a:p>
            <a:pPr algn="just">
              <a:lnSpc>
                <a:spcPct val="150000"/>
              </a:lnSpc>
              <a:buFont typeface="Wingdings" panose="05000000000000000000" pitchFamily="2" charset="2"/>
              <a:buChar char="Ø"/>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Introduction </a:t>
            </a:r>
          </a:p>
          <a:p>
            <a:pPr algn="just">
              <a:lnSpc>
                <a:spcPct val="150000"/>
              </a:lnSpc>
              <a:buFont typeface="Wingdings" panose="05000000000000000000" pitchFamily="2" charset="2"/>
              <a:buChar char="Ø"/>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Literature Review</a:t>
            </a:r>
          </a:p>
          <a:p>
            <a:pPr algn="just">
              <a:lnSpc>
                <a:spcPct val="150000"/>
              </a:lnSpc>
              <a:buFont typeface="Noto Sans Symbols"/>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Purpose and objectives</a:t>
            </a:r>
          </a:p>
          <a:p>
            <a:pPr algn="just">
              <a:lnSpc>
                <a:spcPct val="150000"/>
              </a:lnSpc>
              <a:buFont typeface="Noto Sans Symbols"/>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Methodology</a:t>
            </a:r>
            <a:endParaRPr lang="en-US" sz="2400" dirty="0">
              <a:solidFill>
                <a:schemeClr val="dk1"/>
              </a:solidFill>
              <a:latin typeface="Times New Roman" panose="02020603050405020304" pitchFamily="18" charset="0"/>
              <a:cs typeface="Times New Roman" panose="02020603050405020304" pitchFamily="18" charset="0"/>
              <a:sym typeface="Times New Roman"/>
            </a:endParaRPr>
          </a:p>
          <a:p>
            <a:pPr algn="just">
              <a:lnSpc>
                <a:spcPct val="150000"/>
              </a:lnSpc>
              <a:buFont typeface="Noto Sans Symbols"/>
              <a:buChar char="⮚"/>
            </a:pPr>
            <a:r>
              <a:rPr lang="en-US" sz="2400" dirty="0">
                <a:solidFill>
                  <a:schemeClr val="dk1"/>
                </a:solidFill>
                <a:latin typeface="Times New Roman" panose="02020603050405020304" pitchFamily="18" charset="0"/>
                <a:cs typeface="Times New Roman" panose="02020603050405020304" pitchFamily="18" charset="0"/>
                <a:sym typeface="Times New Roman"/>
              </a:rPr>
              <a:t>Results and Discussion</a:t>
            </a:r>
          </a:p>
          <a:p>
            <a:pPr algn="just">
              <a:lnSpc>
                <a:spcPct val="150000"/>
              </a:lnSpc>
              <a:buFont typeface="Noto Sans Symbols"/>
              <a:buChar char="⮚"/>
            </a:pPr>
            <a:r>
              <a:rPr lang="en-US" sz="2400" dirty="0">
                <a:solidFill>
                  <a:schemeClr val="dk1"/>
                </a:solidFill>
                <a:latin typeface="Times New Roman" panose="02020603050405020304" pitchFamily="18" charset="0"/>
                <a:cs typeface="Times New Roman" panose="02020603050405020304" pitchFamily="18" charset="0"/>
                <a:sym typeface="Times New Roman"/>
              </a:rPr>
              <a:t>Conclusion</a:t>
            </a:r>
          </a:p>
          <a:p>
            <a:pPr algn="just">
              <a:lnSpc>
                <a:spcPct val="150000"/>
              </a:lnSpc>
              <a:buFont typeface="Noto Sans Symbols"/>
              <a:buChar char="⮚"/>
            </a:pPr>
            <a:r>
              <a:rPr lang="en-US" sz="2400" dirty="0">
                <a:solidFill>
                  <a:schemeClr val="dk1"/>
                </a:solidFill>
                <a:latin typeface="Times New Roman" panose="02020603050405020304" pitchFamily="18" charset="0"/>
                <a:cs typeface="Times New Roman" panose="02020603050405020304" pitchFamily="18" charset="0"/>
                <a:sym typeface="Times New Roman"/>
              </a:rPr>
              <a:t>Scope for future work </a:t>
            </a:r>
          </a:p>
          <a:p>
            <a:pPr algn="just">
              <a:lnSpc>
                <a:spcPct val="150000"/>
              </a:lnSpc>
              <a:buFont typeface="Noto Sans Symbols"/>
              <a:buChar char="⮚"/>
            </a:pPr>
            <a:r>
              <a:rPr lang="en-US" sz="2400" dirty="0">
                <a:solidFill>
                  <a:schemeClr val="dk1"/>
                </a:solidFill>
                <a:latin typeface="Times New Roman" panose="02020603050405020304" pitchFamily="18" charset="0"/>
                <a:cs typeface="Times New Roman" panose="02020603050405020304" pitchFamily="18" charset="0"/>
                <a:sym typeface="Times New Roman"/>
              </a:rPr>
              <a:t>Acknowledgements</a:t>
            </a:r>
          </a:p>
          <a:p>
            <a:pPr algn="just">
              <a:lnSpc>
                <a:spcPct val="150000"/>
              </a:lnSpc>
              <a:buFont typeface="Noto Sans Symbols"/>
              <a:buChar char="⮚"/>
            </a:pPr>
            <a:r>
              <a:rPr lang="en-US" sz="2400" dirty="0">
                <a:solidFill>
                  <a:schemeClr val="dk1"/>
                </a:solidFill>
                <a:latin typeface="Times New Roman" panose="02020603050405020304" pitchFamily="18" charset="0"/>
                <a:cs typeface="Times New Roman" panose="02020603050405020304" pitchFamily="18" charset="0"/>
                <a:sym typeface="Times New Roman"/>
              </a:rPr>
              <a:t>Reference  </a:t>
            </a:r>
            <a:endParaRPr lang="en-US" sz="2400" dirty="0">
              <a:latin typeface="Times New Roman" panose="02020603050405020304" pitchFamily="18" charset="0"/>
              <a:cs typeface="Times New Roman" panose="02020603050405020304" pitchFamily="18" charset="0"/>
            </a:endParaRPr>
          </a:p>
          <a:p>
            <a:pPr marL="559972" indent="-279985">
              <a:lnSpc>
                <a:spcPct val="150000"/>
              </a:lnSpc>
              <a:spcBef>
                <a:spcPts val="0"/>
              </a:spcBef>
              <a:buSzPts val="180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945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1823A1-CBD9-7280-661B-144CD5400E3E}"/>
              </a:ext>
            </a:extLst>
          </p:cNvPr>
          <p:cNvSpPr>
            <a:spLocks noGrp="1"/>
          </p:cNvSpPr>
          <p:nvPr>
            <p:ph type="dt" sz="half" idx="10"/>
          </p:nvPr>
        </p:nvSpPr>
        <p:spPr/>
        <p:txBody>
          <a:bodyPr/>
          <a:lstStyle/>
          <a:p>
            <a:fld id="{073B92C4-D010-47BC-A862-1BE01E9E37BB}" type="datetime1">
              <a:rPr lang="en-US" smtClean="0"/>
              <a:t>4/23/2026</a:t>
            </a:fld>
            <a:endParaRPr lang="en-US" dirty="0"/>
          </a:p>
        </p:txBody>
      </p:sp>
      <p:sp>
        <p:nvSpPr>
          <p:cNvPr id="3" name="Slide Number Placeholder 2">
            <a:extLst>
              <a:ext uri="{FF2B5EF4-FFF2-40B4-BE49-F238E27FC236}">
                <a16:creationId xmlns:a16="http://schemas.microsoft.com/office/drawing/2014/main" id="{4B7F329E-371A-52A9-05E4-D808E3FE4E77}"/>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4" name="TextBox 3">
            <a:extLst>
              <a:ext uri="{FF2B5EF4-FFF2-40B4-BE49-F238E27FC236}">
                <a16:creationId xmlns:a16="http://schemas.microsoft.com/office/drawing/2014/main" id="{9CB2A8F5-07AE-169B-097D-F9D3A1D01517}"/>
              </a:ext>
            </a:extLst>
          </p:cNvPr>
          <p:cNvSpPr txBox="1"/>
          <p:nvPr/>
        </p:nvSpPr>
        <p:spPr>
          <a:xfrm>
            <a:off x="433387" y="771380"/>
            <a:ext cx="9611722" cy="5565947"/>
          </a:xfrm>
          <a:prstGeom prst="rect">
            <a:avLst/>
          </a:prstGeom>
          <a:noFill/>
        </p:spPr>
        <p:txBody>
          <a:bodyPr wrap="square" rtlCol="0">
            <a:sp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GitScope</a:t>
            </a:r>
            <a:r>
              <a:rPr lang="en-US" sz="2400" dirty="0">
                <a:latin typeface="Times New Roman" panose="02020603050405020304" pitchFamily="18" charset="0"/>
                <a:cs typeface="Times New Roman" panose="02020603050405020304" pitchFamily="18" charset="0"/>
              </a:rPr>
              <a:t> AI is a web platform that helps developers evaluate GitHub repositories before contributing. It combines four ML-driven modules pre-commit code quality via </a:t>
            </a:r>
            <a:r>
              <a:rPr lang="en-US" sz="2400" dirty="0" err="1">
                <a:latin typeface="Times New Roman" panose="02020603050405020304" pitchFamily="18" charset="0"/>
                <a:cs typeface="Times New Roman" panose="02020603050405020304" pitchFamily="18" charset="0"/>
              </a:rPr>
              <a:t>Pylint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Javac</a:t>
            </a:r>
            <a:r>
              <a:rPr lang="en-US" sz="2400" dirty="0">
                <a:latin typeface="Times New Roman" panose="02020603050405020304" pitchFamily="18" charset="0"/>
                <a:cs typeface="Times New Roman" panose="02020603050405020304" pitchFamily="18" charset="0"/>
              </a:rPr>
              <a:t>, popularity prediction, defect risk assessment, and bounty aggregation all pulling live data through the GitHub API on a React and Fast API stack.</a:t>
            </a:r>
          </a:p>
          <a:p>
            <a:pPr algn="just">
              <a:lnSpc>
                <a:spcPct val="150000"/>
              </a:lnSpc>
            </a:pPr>
            <a:r>
              <a:rPr lang="en-US" sz="2400" dirty="0">
                <a:latin typeface="Times New Roman" panose="02020603050405020304" pitchFamily="18" charset="0"/>
                <a:cs typeface="Times New Roman" panose="02020603050405020304" pitchFamily="18" charset="0"/>
              </a:rPr>
              <a:t>Five classifiers were trained for popularity prediction, with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leading at 99.9% test accuracy and 93.5% cross-validation accuracy. Authentication runs through email OTP and GitHub OAuth, and the modular design makes future extensions additional languages, CI/CD hooks, real-time monitoring practical from day one.</a:t>
            </a:r>
          </a:p>
        </p:txBody>
      </p:sp>
      <p:sp>
        <p:nvSpPr>
          <p:cNvPr id="5" name="TextBox 4">
            <a:extLst>
              <a:ext uri="{FF2B5EF4-FFF2-40B4-BE49-F238E27FC236}">
                <a16:creationId xmlns:a16="http://schemas.microsoft.com/office/drawing/2014/main" id="{BD368702-57DF-653B-5610-38D12850E234}"/>
              </a:ext>
            </a:extLst>
          </p:cNvPr>
          <p:cNvSpPr txBox="1"/>
          <p:nvPr/>
        </p:nvSpPr>
        <p:spPr>
          <a:xfrm>
            <a:off x="2147887" y="125049"/>
            <a:ext cx="6324600" cy="646331"/>
          </a:xfrm>
          <a:prstGeom prst="rect">
            <a:avLst/>
          </a:prstGeom>
          <a:noFill/>
        </p:spPr>
        <p:txBody>
          <a:bodyPr wrap="square" rtlCol="0">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ABSTRACT</a:t>
            </a:r>
            <a:endParaRPr lang="en-IN" sz="36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5575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
        <p:nvSpPr>
          <p:cNvPr id="9" name="Google Shape;85;p16"/>
          <p:cNvSpPr/>
          <p:nvPr/>
        </p:nvSpPr>
        <p:spPr>
          <a:xfrm>
            <a:off x="2534148" y="143630"/>
            <a:ext cx="5410200" cy="619957"/>
          </a:xfrm>
          <a:prstGeom prst="rect">
            <a:avLst/>
          </a:prstGeom>
          <a:noFill/>
          <a:ln>
            <a:noFill/>
          </a:ln>
        </p:spPr>
        <p:txBody>
          <a:bodyPr spcFirstLastPara="1" wrap="square" lIns="111975" tIns="55972" rIns="111975" bIns="55972" anchor="t" anchorCtr="0">
            <a:noAutofit/>
          </a:bodyPr>
          <a:lstStyle/>
          <a:p>
            <a:pPr algn="ctr"/>
            <a:r>
              <a:rPr lang="en-US" sz="4000" b="1" dirty="0">
                <a:solidFill>
                  <a:srgbClr val="FF0000"/>
                </a:solidFill>
                <a:latin typeface="Times New Roman"/>
                <a:ea typeface="Times New Roman"/>
                <a:cs typeface="Times New Roman"/>
                <a:sym typeface="Times New Roman"/>
              </a:rPr>
              <a:t>INTRODUCTION</a:t>
            </a:r>
          </a:p>
        </p:txBody>
      </p:sp>
      <p:sp>
        <p:nvSpPr>
          <p:cNvPr id="7" name="TextBox 6">
            <a:extLst>
              <a:ext uri="{FF2B5EF4-FFF2-40B4-BE49-F238E27FC236}">
                <a16:creationId xmlns:a16="http://schemas.microsoft.com/office/drawing/2014/main" id="{EFBDB306-C8CA-AF0C-E5EC-609516051B34}"/>
              </a:ext>
            </a:extLst>
          </p:cNvPr>
          <p:cNvSpPr txBox="1"/>
          <p:nvPr/>
        </p:nvSpPr>
        <p:spPr>
          <a:xfrm>
            <a:off x="433387" y="763587"/>
            <a:ext cx="9611722" cy="611994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GitHub has become the backbone of modern open-source development, hosting millions of repositories that generate rich activity data commits, pull requests, stars, forks, and issues</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Despite this wealth of data, developers still lack a reliable way to judge whether a repository is worth contributing to before writing a single line of code</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Existing tools are either too shallow, relying on surface metrics like stars and forks, or too slow, depending on manual code review that doesn't scale</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Studies on popularity prediction (</a:t>
            </a:r>
            <a:r>
              <a:rPr lang="en-US" sz="2400" dirty="0" err="1">
                <a:latin typeface="Times New Roman" panose="02020603050405020304" pitchFamily="18" charset="0"/>
                <a:cs typeface="Times New Roman" panose="02020603050405020304" pitchFamily="18" charset="0"/>
              </a:rPr>
              <a:t>Bidoki</a:t>
            </a:r>
            <a:r>
              <a:rPr lang="en-US" sz="2400" dirty="0">
                <a:latin typeface="Times New Roman" panose="02020603050405020304" pitchFamily="18" charset="0"/>
                <a:cs typeface="Times New Roman" panose="02020603050405020304" pitchFamily="18" charset="0"/>
              </a:rPr>
              <a:t> et al., 2018) and defect prediction (Shen et al., 2022) have tackled pieces of this problem but always in isolation</a:t>
            </a:r>
          </a:p>
        </p:txBody>
      </p:sp>
    </p:spTree>
    <p:extLst>
      <p:ext uri="{BB962C8B-B14F-4D97-AF65-F5344CB8AC3E}">
        <p14:creationId xmlns:p14="http://schemas.microsoft.com/office/powerpoint/2010/main" val="2444974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BC79B3-3FCE-1C63-2186-307A3D008071}"/>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AC34D25B-254F-6A05-3862-73231492E634}"/>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6" name="Google Shape;85;p16">
            <a:extLst>
              <a:ext uri="{FF2B5EF4-FFF2-40B4-BE49-F238E27FC236}">
                <a16:creationId xmlns:a16="http://schemas.microsoft.com/office/drawing/2014/main" id="{4EB16356-0C58-2820-22D5-91551357CBF4}"/>
              </a:ext>
            </a:extLst>
          </p:cNvPr>
          <p:cNvSpPr/>
          <p:nvPr/>
        </p:nvSpPr>
        <p:spPr>
          <a:xfrm>
            <a:off x="169931" y="306387"/>
            <a:ext cx="10169456" cy="619957"/>
          </a:xfrm>
          <a:prstGeom prst="rect">
            <a:avLst/>
          </a:prstGeom>
          <a:noFill/>
          <a:ln>
            <a:noFill/>
          </a:ln>
        </p:spPr>
        <p:txBody>
          <a:bodyPr spcFirstLastPara="1" wrap="square" lIns="111975" tIns="55972" rIns="111975" bIns="55972" anchor="t" anchorCtr="0">
            <a:noAutofit/>
          </a:bodyPr>
          <a:lstStyle/>
          <a:p>
            <a:pPr algn="ctr"/>
            <a:r>
              <a:rPr lang="en-US" sz="4000" b="1" dirty="0">
                <a:solidFill>
                  <a:srgbClr val="FF0000"/>
                </a:solidFill>
                <a:latin typeface="Times New Roman"/>
                <a:ea typeface="Times New Roman"/>
                <a:cs typeface="Times New Roman"/>
                <a:sym typeface="Times New Roman"/>
              </a:rPr>
              <a:t>                       INTRODUCTION          </a:t>
            </a:r>
            <a:r>
              <a:rPr lang="en-US" sz="4000" b="1" dirty="0" err="1">
                <a:solidFill>
                  <a:srgbClr val="FF0000"/>
                </a:solidFill>
                <a:latin typeface="Times New Roman"/>
                <a:ea typeface="Times New Roman"/>
                <a:cs typeface="Times New Roman"/>
                <a:sym typeface="Times New Roman"/>
              </a:rPr>
              <a:t>cont</a:t>
            </a:r>
            <a:r>
              <a:rPr lang="en-US" sz="4000" b="1" dirty="0">
                <a:solidFill>
                  <a:srgbClr val="FF0000"/>
                </a:solidFill>
                <a:latin typeface="Times New Roman"/>
                <a:ea typeface="Times New Roman"/>
                <a:cs typeface="Times New Roman"/>
                <a:sym typeface="Times New Roman"/>
              </a:rPr>
              <a:t>….</a:t>
            </a:r>
          </a:p>
        </p:txBody>
      </p:sp>
      <p:sp>
        <p:nvSpPr>
          <p:cNvPr id="8" name="TextBox 7">
            <a:extLst>
              <a:ext uri="{FF2B5EF4-FFF2-40B4-BE49-F238E27FC236}">
                <a16:creationId xmlns:a16="http://schemas.microsoft.com/office/drawing/2014/main" id="{255170B9-95EA-086E-1EB6-A85278CC1A18}"/>
              </a:ext>
            </a:extLst>
          </p:cNvPr>
          <p:cNvSpPr txBox="1"/>
          <p:nvPr/>
        </p:nvSpPr>
        <p:spPr>
          <a:xfrm>
            <a:off x="435440" y="839787"/>
            <a:ext cx="9573622" cy="6119945"/>
          </a:xfrm>
          <a:prstGeom prst="rect">
            <a:avLst/>
          </a:prstGeom>
          <a:noFill/>
        </p:spPr>
        <p:txBody>
          <a:bodyPr wrap="square" rtlCol="0">
            <a:spAutoFit/>
          </a:bodyPr>
          <a:lstStyle/>
          <a:p>
            <a:pPr marL="457200" indent="-4572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 unified framework currently exists that combines pre-commit code quality analysis with repository risk assessment and popularity prediction in one place</a:t>
            </a:r>
          </a:p>
          <a:p>
            <a:pPr marL="457200" indent="-457200" algn="just">
              <a:lnSpc>
                <a:spcPct val="150000"/>
              </a:lnSpc>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GitScope</a:t>
            </a:r>
            <a:r>
              <a:rPr lang="en-US" sz="2400" dirty="0">
                <a:latin typeface="Times New Roman" panose="02020603050405020304" pitchFamily="18" charset="0"/>
                <a:cs typeface="Times New Roman" panose="02020603050405020304" pitchFamily="18" charset="0"/>
              </a:rPr>
              <a:t> AI fills this gap a multi-model ML platform that runs four analyses: static code quality via </a:t>
            </a:r>
            <a:r>
              <a:rPr lang="en-US" sz="2400" dirty="0" err="1">
                <a:latin typeface="Times New Roman" panose="02020603050405020304" pitchFamily="18" charset="0"/>
                <a:cs typeface="Times New Roman" panose="02020603050405020304" pitchFamily="18" charset="0"/>
              </a:rPr>
              <a:t>Pylint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Javac</a:t>
            </a:r>
            <a:r>
              <a:rPr lang="en-US" sz="2400" dirty="0">
                <a:latin typeface="Times New Roman" panose="02020603050405020304" pitchFamily="18" charset="0"/>
                <a:cs typeface="Times New Roman" panose="02020603050405020304" pitchFamily="18" charset="0"/>
              </a:rPr>
              <a:t>, popularity </a:t>
            </a:r>
            <a:r>
              <a:rPr lang="en-US" sz="2400">
                <a:latin typeface="Times New Roman" panose="02020603050405020304" pitchFamily="18" charset="0"/>
                <a:cs typeface="Times New Roman" panose="02020603050405020304" pitchFamily="18" charset="0"/>
              </a:rPr>
              <a:t>classification, defect </a:t>
            </a:r>
            <a:r>
              <a:rPr lang="en-US" sz="2400" dirty="0">
                <a:latin typeface="Times New Roman" panose="02020603050405020304" pitchFamily="18" charset="0"/>
                <a:cs typeface="Times New Roman" panose="02020603050405020304" pitchFamily="18" charset="0"/>
              </a:rPr>
              <a:t>risk, and bounty aggregation</a:t>
            </a:r>
          </a:p>
          <a:p>
            <a:pPr marL="457200" indent="-4572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All modules operate on live GitHub API data, with results delivered through a single React + Fast API interface</a:t>
            </a:r>
          </a:p>
          <a:p>
            <a:pPr marL="457200" indent="-4572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goal is simple: give developers one platform that turns raw repository data into something they can actually act on before they commit</a:t>
            </a:r>
          </a:p>
        </p:txBody>
      </p:sp>
    </p:spTree>
    <p:extLst>
      <p:ext uri="{BB962C8B-B14F-4D97-AF65-F5344CB8AC3E}">
        <p14:creationId xmlns:p14="http://schemas.microsoft.com/office/powerpoint/2010/main" val="2580080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92BFAB-9EC9-0DE8-0989-219F8C4827ED}"/>
              </a:ext>
            </a:extLst>
          </p:cNvPr>
          <p:cNvSpPr>
            <a:spLocks noGrp="1"/>
          </p:cNvSpPr>
          <p:nvPr>
            <p:ph type="dt" sz="half" idx="10"/>
          </p:nvPr>
        </p:nvSpPr>
        <p:spPr/>
        <p:txBody>
          <a:bodyPr/>
          <a:lstStyle/>
          <a:p>
            <a:fld id="{073B92C4-D010-47BC-A862-1BE01E9E37BB}" type="datetime1">
              <a:rPr lang="en-US" smtClean="0"/>
              <a:t>4/23/2026</a:t>
            </a:fld>
            <a:endParaRPr lang="en-US" dirty="0"/>
          </a:p>
        </p:txBody>
      </p:sp>
      <p:sp>
        <p:nvSpPr>
          <p:cNvPr id="3" name="Slide Number Placeholder 2">
            <a:extLst>
              <a:ext uri="{FF2B5EF4-FFF2-40B4-BE49-F238E27FC236}">
                <a16:creationId xmlns:a16="http://schemas.microsoft.com/office/drawing/2014/main" id="{83EED499-E7D5-C9DD-445A-C8BEFB314CF6}"/>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TextBox 3">
            <a:extLst>
              <a:ext uri="{FF2B5EF4-FFF2-40B4-BE49-F238E27FC236}">
                <a16:creationId xmlns:a16="http://schemas.microsoft.com/office/drawing/2014/main" id="{FBEB5417-38F8-07B1-3542-E12CE2460D84}"/>
              </a:ext>
            </a:extLst>
          </p:cNvPr>
          <p:cNvSpPr txBox="1"/>
          <p:nvPr/>
        </p:nvSpPr>
        <p:spPr>
          <a:xfrm>
            <a:off x="729175" y="96881"/>
            <a:ext cx="9144000" cy="707886"/>
          </a:xfrm>
          <a:prstGeom prst="rect">
            <a:avLst/>
          </a:prstGeom>
          <a:noFill/>
        </p:spPr>
        <p:txBody>
          <a:bodyPr wrap="square" rtlCol="0">
            <a:sp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Literature Review</a:t>
            </a:r>
          </a:p>
        </p:txBody>
      </p:sp>
      <p:graphicFrame>
        <p:nvGraphicFramePr>
          <p:cNvPr id="8" name="Table 5">
            <a:extLst>
              <a:ext uri="{FF2B5EF4-FFF2-40B4-BE49-F238E27FC236}">
                <a16:creationId xmlns:a16="http://schemas.microsoft.com/office/drawing/2014/main" id="{3444CF06-7187-EC7C-2F97-491E50DBB737}"/>
              </a:ext>
            </a:extLst>
          </p:cNvPr>
          <p:cNvGraphicFramePr>
            <a:graphicFrameLocks noGrp="1"/>
          </p:cNvGraphicFramePr>
          <p:nvPr>
            <p:extLst>
              <p:ext uri="{D42A27DB-BD31-4B8C-83A1-F6EECF244321}">
                <p14:modId xmlns:p14="http://schemas.microsoft.com/office/powerpoint/2010/main" val="1313144968"/>
              </p:ext>
            </p:extLst>
          </p:nvPr>
        </p:nvGraphicFramePr>
        <p:xfrm>
          <a:off x="215123" y="836900"/>
          <a:ext cx="10190128" cy="6280204"/>
        </p:xfrm>
        <a:graphic>
          <a:graphicData uri="http://schemas.openxmlformats.org/drawingml/2006/table">
            <a:tbl>
              <a:tblPr firstRow="1" bandRow="1">
                <a:tableStyleId>{5940675A-B579-460E-94D1-54222C63F5DA}</a:tableStyleId>
              </a:tblPr>
              <a:tblGrid>
                <a:gridCol w="2646328">
                  <a:extLst>
                    <a:ext uri="{9D8B030D-6E8A-4147-A177-3AD203B41FA5}">
                      <a16:colId xmlns:a16="http://schemas.microsoft.com/office/drawing/2014/main" val="20000"/>
                    </a:ext>
                  </a:extLst>
                </a:gridCol>
                <a:gridCol w="5450156">
                  <a:extLst>
                    <a:ext uri="{9D8B030D-6E8A-4147-A177-3AD203B41FA5}">
                      <a16:colId xmlns:a16="http://schemas.microsoft.com/office/drawing/2014/main" val="20001"/>
                    </a:ext>
                  </a:extLst>
                </a:gridCol>
                <a:gridCol w="2093644">
                  <a:extLst>
                    <a:ext uri="{9D8B030D-6E8A-4147-A177-3AD203B41FA5}">
                      <a16:colId xmlns:a16="http://schemas.microsoft.com/office/drawing/2014/main" val="20002"/>
                    </a:ext>
                  </a:extLst>
                </a:gridCol>
              </a:tblGrid>
              <a:tr h="350709">
                <a:tc>
                  <a:txBody>
                    <a:bodyPr/>
                    <a:lstStyle/>
                    <a:p>
                      <a:r>
                        <a:rPr lang="en-US" sz="2000" b="1" dirty="0">
                          <a:solidFill>
                            <a:schemeClr val="tx1"/>
                          </a:solidFill>
                          <a:latin typeface="Times New Roman" panose="02020603050405020304" pitchFamily="18" charset="0"/>
                          <a:cs typeface="Times New Roman" panose="02020603050405020304" pitchFamily="18" charset="0"/>
                        </a:rPr>
                        <a:t>Objectives</a:t>
                      </a:r>
                    </a:p>
                  </a:txBody>
                  <a:tcPr marL="111992" marR="111992" marT="55996" marB="55996"/>
                </a:tc>
                <a:tc>
                  <a:txBody>
                    <a:bodyPr/>
                    <a:lstStyle/>
                    <a:p>
                      <a:r>
                        <a:rPr lang="en-US" sz="2000" b="1" dirty="0">
                          <a:solidFill>
                            <a:schemeClr val="tx1"/>
                          </a:solidFill>
                          <a:latin typeface="Times New Roman" panose="02020603050405020304" pitchFamily="18" charset="0"/>
                          <a:cs typeface="Times New Roman" panose="02020603050405020304" pitchFamily="18" charset="0"/>
                        </a:rPr>
                        <a:t>Findings</a:t>
                      </a:r>
                    </a:p>
                  </a:txBody>
                  <a:tcPr marL="111992" marR="111992" marT="55996" marB="55996"/>
                </a:tc>
                <a:tc>
                  <a:txBody>
                    <a:bodyPr/>
                    <a:lstStyle/>
                    <a:p>
                      <a:r>
                        <a:rPr lang="en-US" sz="2000" b="1" dirty="0">
                          <a:solidFill>
                            <a:schemeClr val="tx1"/>
                          </a:solidFill>
                          <a:latin typeface="Times New Roman" panose="02020603050405020304" pitchFamily="18" charset="0"/>
                          <a:cs typeface="Times New Roman" panose="02020603050405020304" pitchFamily="18" charset="0"/>
                        </a:rPr>
                        <a:t>References</a:t>
                      </a:r>
                    </a:p>
                  </a:txBody>
                  <a:tcPr marL="111992" marR="111992" marT="55996" marB="55996"/>
                </a:tc>
                <a:extLst>
                  <a:ext uri="{0D108BD9-81ED-4DB2-BD59-A6C34878D82A}">
                    <a16:rowId xmlns:a16="http://schemas.microsoft.com/office/drawing/2014/main" val="10000"/>
                  </a:ext>
                </a:extLst>
              </a:tr>
              <a:tr h="1668084">
                <a:tc>
                  <a:txBody>
                    <a:bodyPr/>
                    <a:lstStyle/>
                    <a:p>
                      <a:pPr lvl="0" algn="l">
                        <a:lnSpc>
                          <a:spcPct val="100000"/>
                        </a:lnSpc>
                        <a:spcBef>
                          <a:spcPts val="0"/>
                        </a:spcBef>
                        <a:spcAft>
                          <a:spcPts val="0"/>
                        </a:spcAft>
                        <a:buNone/>
                      </a:pPr>
                      <a:r>
                        <a:rPr lang="en-US" sz="2000" dirty="0">
                          <a:solidFill>
                            <a:schemeClr val="tx1"/>
                          </a:solidFill>
                          <a:latin typeface="Times New Roman" panose="02020603050405020304" pitchFamily="18" charset="0"/>
                          <a:cs typeface="Times New Roman" panose="02020603050405020304" pitchFamily="18" charset="0"/>
                        </a:rPr>
                        <a:t>To predict the </a:t>
                      </a:r>
                      <a:r>
                        <a:rPr lang="en-US" sz="2000" u="sng" dirty="0">
                          <a:solidFill>
                            <a:schemeClr val="tx1"/>
                          </a:solidFill>
                          <a:latin typeface="Times New Roman" panose="02020603050405020304" pitchFamily="18" charset="0"/>
                          <a:cs typeface="Times New Roman" panose="02020603050405020304" pitchFamily="18" charset="0"/>
                        </a:rPr>
                        <a:t>popularity</a:t>
                      </a:r>
                      <a:r>
                        <a:rPr lang="en-US" sz="2000" dirty="0">
                          <a:solidFill>
                            <a:schemeClr val="tx1"/>
                          </a:solidFill>
                          <a:latin typeface="Times New Roman" panose="02020603050405020304" pitchFamily="18" charset="0"/>
                          <a:cs typeface="Times New Roman" panose="02020603050405020304" pitchFamily="18" charset="0"/>
                        </a:rPr>
                        <a:t> of GitHub repositories using repository activity data.</a:t>
                      </a:r>
                    </a:p>
                  </a:txBody>
                  <a:tcPr marL="111992" marR="111992" marT="55996" marB="55996"/>
                </a:tc>
                <a:tc>
                  <a:txBody>
                    <a:bodyPr/>
                    <a:lstStyle/>
                    <a:p>
                      <a:pPr lvl="0" algn="just">
                        <a:lnSpc>
                          <a:spcPct val="100000"/>
                        </a:lnSpc>
                        <a:buNone/>
                      </a:pPr>
                      <a:r>
                        <a:rPr lang="en-US" sz="2000" u="none" dirty="0">
                          <a:solidFill>
                            <a:schemeClr val="tx1"/>
                          </a:solidFill>
                          <a:latin typeface="Times New Roman" panose="02020603050405020304" pitchFamily="18" charset="0"/>
                          <a:cs typeface="Times New Roman" panose="02020603050405020304" pitchFamily="18" charset="0"/>
                        </a:rPr>
                        <a:t>The study showed that repository popularity is influenced by cross-repository interactions. </a:t>
                      </a:r>
                      <a:r>
                        <a:rPr lang="en-US" sz="2000" u="sng" dirty="0">
                          <a:solidFill>
                            <a:schemeClr val="tx1"/>
                          </a:solidFill>
                          <a:latin typeface="Times New Roman" panose="02020603050405020304" pitchFamily="18" charset="0"/>
                          <a:cs typeface="Times New Roman" panose="02020603050405020304" pitchFamily="18" charset="0"/>
                        </a:rPr>
                        <a:t>LSTM-based models using fork and watch events achieved better prediction accuracy than traditional ARIMA models.</a:t>
                      </a:r>
                    </a:p>
                  </a:txBody>
                  <a:tcPr marL="111992" marR="111992" marT="55996" marB="55996"/>
                </a:tc>
                <a:tc>
                  <a:txBody>
                    <a:bodyPr/>
                    <a:lstStyle/>
                    <a:p>
                      <a:pPr lvl="0" algn="just">
                        <a:lnSpc>
                          <a:spcPct val="100000"/>
                        </a:lnSpc>
                        <a:buNone/>
                      </a:pPr>
                      <a:r>
                        <a:rPr lang="en-IN" sz="1200" dirty="0" err="1">
                          <a:latin typeface="Times New Roman" panose="02020603050405020304" pitchFamily="18" charset="0"/>
                          <a:cs typeface="Times New Roman" panose="02020603050405020304" pitchFamily="18" charset="0"/>
                        </a:rPr>
                        <a:t>Hajiakhoond</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Bidoki</a:t>
                      </a:r>
                      <a:r>
                        <a:rPr lang="en-IN" sz="1200" dirty="0">
                          <a:latin typeface="Times New Roman" panose="02020603050405020304" pitchFamily="18" charset="0"/>
                          <a:cs typeface="Times New Roman" panose="02020603050405020304" pitchFamily="18" charset="0"/>
                        </a:rPr>
                        <a:t>, N., </a:t>
                      </a:r>
                      <a:r>
                        <a:rPr lang="en-IN" sz="1200" dirty="0" err="1">
                          <a:latin typeface="Times New Roman" panose="02020603050405020304" pitchFamily="18" charset="0"/>
                          <a:cs typeface="Times New Roman" panose="02020603050405020304" pitchFamily="18" charset="0"/>
                        </a:rPr>
                        <a:t>Sukthankar</a:t>
                      </a:r>
                      <a:r>
                        <a:rPr lang="en-IN" sz="1200" dirty="0">
                          <a:latin typeface="Times New Roman" panose="02020603050405020304" pitchFamily="18" charset="0"/>
                          <a:cs typeface="Times New Roman" panose="02020603050405020304" pitchFamily="18" charset="0"/>
                        </a:rPr>
                        <a:t>, G., Keathley, H., &amp; Garibay, I. (2018). A Cross-Repository Model for Predicting Popularity in GitHub. 2018 International Conference on Computational Science and Computational Intelligence (CSCI), 1248–1253.</a:t>
                      </a:r>
                      <a:endParaRPr lang="en-US" sz="1200" dirty="0">
                        <a:solidFill>
                          <a:schemeClr val="tx1"/>
                        </a:solidFill>
                        <a:latin typeface="Times New Roman" panose="02020603050405020304" pitchFamily="18" charset="0"/>
                        <a:cs typeface="Times New Roman" panose="02020603050405020304" pitchFamily="18" charset="0"/>
                      </a:endParaRPr>
                    </a:p>
                  </a:txBody>
                  <a:tcPr marL="111992" marR="111992" marT="55996" marB="55996"/>
                </a:tc>
                <a:extLst>
                  <a:ext uri="{0D108BD9-81ED-4DB2-BD59-A6C34878D82A}">
                    <a16:rowId xmlns:a16="http://schemas.microsoft.com/office/drawing/2014/main" val="10001"/>
                  </a:ext>
                </a:extLst>
              </a:tr>
              <a:tr h="1676400">
                <a:tc>
                  <a:txBody>
                    <a:bodyPr/>
                    <a:lstStyle/>
                    <a:p>
                      <a:pPr lvl="0" algn="l">
                        <a:lnSpc>
                          <a:spcPct val="100000"/>
                        </a:lnSpc>
                        <a:spcBef>
                          <a:spcPts val="0"/>
                        </a:spcBef>
                        <a:spcAft>
                          <a:spcPts val="0"/>
                        </a:spcAft>
                        <a:buNone/>
                      </a:pPr>
                      <a:r>
                        <a:rPr lang="en-US" sz="2000" dirty="0">
                          <a:latin typeface="Times New Roman" panose="02020603050405020304" pitchFamily="18" charset="0"/>
                          <a:cs typeface="Times New Roman" panose="02020603050405020304" pitchFamily="18" charset="0"/>
                        </a:rPr>
                        <a:t>To design an efficient GitHub-based </a:t>
                      </a:r>
                      <a:r>
                        <a:rPr lang="en-US" sz="2000" u="sng" dirty="0">
                          <a:latin typeface="Times New Roman" panose="02020603050405020304" pitchFamily="18" charset="0"/>
                          <a:cs typeface="Times New Roman" panose="02020603050405020304" pitchFamily="18" charset="0"/>
                        </a:rPr>
                        <a:t>data collection</a:t>
                      </a:r>
                      <a:r>
                        <a:rPr lang="en-US" sz="2000" dirty="0">
                          <a:latin typeface="Times New Roman" panose="02020603050405020304" pitchFamily="18" charset="0"/>
                          <a:cs typeface="Times New Roman" panose="02020603050405020304" pitchFamily="18" charset="0"/>
                        </a:rPr>
                        <a:t> method for software defect prediction.</a:t>
                      </a:r>
                      <a:endParaRPr lang="en-US" sz="2000" b="0" i="0" u="none" strike="noStrike"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111975" marR="111975" marT="111975" marB="111975"/>
                </a:tc>
                <a:tc>
                  <a:txBody>
                    <a:bodyPr/>
                    <a:lstStyle/>
                    <a:p>
                      <a:pPr marL="0" lvl="0" indent="0" algn="just">
                        <a:lnSpc>
                          <a:spcPct val="100000"/>
                        </a:lnSpc>
                        <a:spcBef>
                          <a:spcPts val="0"/>
                        </a:spcBef>
                        <a:spcAft>
                          <a:spcPts val="0"/>
                        </a:spcAft>
                        <a:buNone/>
                      </a:pPr>
                      <a:r>
                        <a:rPr lang="en-US" sz="2000" dirty="0">
                          <a:latin typeface="Times New Roman" panose="02020603050405020304" pitchFamily="18" charset="0"/>
                          <a:cs typeface="Times New Roman" panose="02020603050405020304" pitchFamily="18" charset="0"/>
                        </a:rPr>
                        <a:t>The Study framework effectively identified defect-related </a:t>
                      </a:r>
                      <a:r>
                        <a:rPr lang="en-US" sz="2000" u="sng" dirty="0">
                          <a:latin typeface="Times New Roman" panose="02020603050405020304" pitchFamily="18" charset="0"/>
                          <a:cs typeface="Times New Roman" panose="02020603050405020304" pitchFamily="18" charset="0"/>
                        </a:rPr>
                        <a:t>pull requests and improved dataset quality, resulting in better defect prediction performance</a:t>
                      </a:r>
                      <a:r>
                        <a:rPr lang="en-US" sz="2000" dirty="0">
                          <a:latin typeface="Times New Roman" panose="02020603050405020304" pitchFamily="18" charset="0"/>
                          <a:cs typeface="Times New Roman" panose="02020603050405020304" pitchFamily="18" charset="0"/>
                        </a:rPr>
                        <a:t>.</a:t>
                      </a:r>
                      <a:endParaRPr lang="en-US" sz="2000" b="0" i="0" u="none" strike="noStrike" cap="none" dirty="0">
                        <a:solidFill>
                          <a:srgbClr val="000000"/>
                        </a:solidFill>
                        <a:latin typeface="Times New Roman" panose="02020603050405020304" pitchFamily="18" charset="0"/>
                        <a:ea typeface="+mn-ea"/>
                        <a:cs typeface="Times New Roman" panose="02020603050405020304" pitchFamily="18" charset="0"/>
                        <a:sym typeface="Times New Roman"/>
                      </a:endParaRPr>
                    </a:p>
                  </a:txBody>
                  <a:tcPr marL="111975" marR="111975" marT="111975" marB="111975"/>
                </a:tc>
                <a:tc>
                  <a:txBody>
                    <a:bodyPr/>
                    <a:lstStyle/>
                    <a:p>
                      <a:pPr lvl="0" algn="just">
                        <a:lnSpc>
                          <a:spcPct val="100000"/>
                        </a:lnSpc>
                        <a:buNone/>
                      </a:pPr>
                      <a:r>
                        <a:rPr lang="en-US" sz="1200" dirty="0">
                          <a:latin typeface="Times New Roman" panose="02020603050405020304" pitchFamily="18" charset="0"/>
                          <a:cs typeface="Times New Roman" panose="02020603050405020304" pitchFamily="18" charset="0"/>
                        </a:rPr>
                        <a:t>Xu, J., Yan, L., Wang, F., &amp; Ai, J. (2020). A GitHub-Based Data Collection Method for Software Defect Prediction. 2019 6th International Conference on Dependable Systems and Their Applications (DSA), 100–108. </a:t>
                      </a:r>
                      <a:endParaRPr lang="en-US" sz="1200" dirty="0">
                        <a:solidFill>
                          <a:schemeClr val="tx1"/>
                        </a:solidFill>
                        <a:latin typeface="Times New Roman" panose="02020603050405020304" pitchFamily="18" charset="0"/>
                        <a:cs typeface="Times New Roman" panose="02020603050405020304" pitchFamily="18" charset="0"/>
                      </a:endParaRPr>
                    </a:p>
                  </a:txBody>
                  <a:tcPr marL="111975" marR="111975" marT="111975" marB="111975"/>
                </a:tc>
                <a:extLst>
                  <a:ext uri="{0D108BD9-81ED-4DB2-BD59-A6C34878D82A}">
                    <a16:rowId xmlns:a16="http://schemas.microsoft.com/office/drawing/2014/main" val="10002"/>
                  </a:ext>
                </a:extLst>
              </a:tr>
              <a:tr h="90834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chemeClr val="tx1"/>
                          </a:solidFill>
                          <a:latin typeface="Times New Roman" panose="02020603050405020304" pitchFamily="18" charset="0"/>
                          <a:ea typeface="+mn-ea"/>
                          <a:cs typeface="Times New Roman" panose="02020603050405020304" pitchFamily="18" charset="0"/>
                          <a:sym typeface="Times New Roman"/>
                        </a:rPr>
                        <a:t>To examine the role of </a:t>
                      </a:r>
                      <a:r>
                        <a:rPr lang="en-US" sz="2000" b="0" i="0" u="sng" strike="noStrike" cap="none" dirty="0">
                          <a:solidFill>
                            <a:schemeClr val="tx1"/>
                          </a:solidFill>
                          <a:latin typeface="Times New Roman" panose="02020603050405020304" pitchFamily="18" charset="0"/>
                          <a:ea typeface="+mn-ea"/>
                          <a:cs typeface="Times New Roman" panose="02020603050405020304" pitchFamily="18" charset="0"/>
                          <a:sym typeface="Times New Roman"/>
                        </a:rPr>
                        <a:t>commit messages</a:t>
                      </a:r>
                      <a:r>
                        <a:rPr lang="en-US" sz="2000" b="0" i="0" u="none" strike="noStrike" cap="none" dirty="0">
                          <a:solidFill>
                            <a:schemeClr val="tx1"/>
                          </a:solidFill>
                          <a:latin typeface="Times New Roman" panose="02020603050405020304" pitchFamily="18" charset="0"/>
                          <a:ea typeface="+mn-ea"/>
                          <a:cs typeface="Times New Roman" panose="02020603050405020304" pitchFamily="18" charset="0"/>
                          <a:sym typeface="Times New Roman"/>
                        </a:rPr>
                        <a:t> in creating datasets for fault prediction.</a:t>
                      </a:r>
                    </a:p>
                    <a:p>
                      <a:pPr lvl="0" algn="just">
                        <a:lnSpc>
                          <a:spcPct val="100000"/>
                        </a:lnSpc>
                        <a:spcBef>
                          <a:spcPts val="0"/>
                        </a:spcBef>
                        <a:spcAft>
                          <a:spcPts val="0"/>
                        </a:spcAft>
                        <a:buNone/>
                      </a:pPr>
                      <a:endParaRPr lang="en-US" sz="2000" b="0" i="0" u="none" strike="noStrike"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111975" marR="111975" marT="111975" marB="111975"/>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The study found that bug-related keywords in commit messages can help identify </a:t>
                      </a:r>
                      <a:r>
                        <a:rPr lang="en-US" sz="2000" b="0" i="0" u="sng" strike="noStrike" cap="none" dirty="0">
                          <a:solidFill>
                            <a:schemeClr val="tx1"/>
                          </a:solidFill>
                          <a:latin typeface="Times New Roman" panose="02020603050405020304" pitchFamily="18" charset="0"/>
                          <a:ea typeface="+mn-ea"/>
                          <a:cs typeface="Times New Roman" panose="02020603050405020304" pitchFamily="18" charset="0"/>
                          <a:sym typeface="Arial"/>
                        </a:rPr>
                        <a:t>fault-prone classes with reasonable accuracy, supporting large-scale dataset creation.</a:t>
                      </a:r>
                    </a:p>
                    <a:p>
                      <a:pPr marL="0" lvl="0" indent="0" algn="just">
                        <a:lnSpc>
                          <a:spcPct val="150000"/>
                        </a:lnSpc>
                        <a:spcBef>
                          <a:spcPts val="0"/>
                        </a:spcBef>
                        <a:spcAft>
                          <a:spcPts val="0"/>
                        </a:spcAft>
                        <a:buNone/>
                      </a:pPr>
                      <a:endParaRPr lang="en-US" sz="2000" b="0" i="0" u="none" strike="noStrike" cap="none" dirty="0">
                        <a:solidFill>
                          <a:srgbClr val="000000"/>
                        </a:solidFill>
                        <a:latin typeface="Times New Roman" panose="02020603050405020304" pitchFamily="18" charset="0"/>
                        <a:ea typeface="+mn-ea"/>
                        <a:cs typeface="Times New Roman" panose="02020603050405020304" pitchFamily="18" charset="0"/>
                        <a:sym typeface="Times New Roman"/>
                      </a:endParaRPr>
                    </a:p>
                  </a:txBody>
                  <a:tcPr marL="111975" marR="111975" marT="111975" marB="111975"/>
                </a:tc>
                <a:tc>
                  <a:txBody>
                    <a:bodyPr/>
                    <a:lstStyle/>
                    <a:p>
                      <a:pPr lvl="0" algn="just">
                        <a:lnSpc>
                          <a:spcPct val="100000"/>
                        </a:lnSpc>
                        <a:buNone/>
                      </a:pPr>
                      <a:r>
                        <a:rPr lang="en-US" sz="1200" dirty="0" err="1">
                          <a:latin typeface="Times New Roman" panose="02020603050405020304" pitchFamily="18" charset="0"/>
                          <a:cs typeface="Times New Roman" panose="02020603050405020304" pitchFamily="18" charset="0"/>
                        </a:rPr>
                        <a:t>Caulo</a:t>
                      </a:r>
                      <a:r>
                        <a:rPr lang="en-US" sz="1200" dirty="0">
                          <a:latin typeface="Times New Roman" panose="02020603050405020304" pitchFamily="18" charset="0"/>
                          <a:cs typeface="Times New Roman" panose="02020603050405020304" pitchFamily="18" charset="0"/>
                        </a:rPr>
                        <a:t>, M., &amp; </a:t>
                      </a:r>
                      <a:r>
                        <a:rPr lang="en-US" sz="1200" dirty="0" err="1">
                          <a:latin typeface="Times New Roman" panose="02020603050405020304" pitchFamily="18" charset="0"/>
                          <a:cs typeface="Times New Roman" panose="02020603050405020304" pitchFamily="18" charset="0"/>
                        </a:rPr>
                        <a:t>Scanniello</a:t>
                      </a:r>
                      <a:r>
                        <a:rPr lang="en-US" sz="1200" dirty="0">
                          <a:latin typeface="Times New Roman" panose="02020603050405020304" pitchFamily="18" charset="0"/>
                          <a:cs typeface="Times New Roman" panose="02020603050405020304" pitchFamily="18" charset="0"/>
                        </a:rPr>
                        <a:t>, G. (2019). On the Use of Commit Messages to Support the Creation of Datasets for Fault Prediction: An Empirical Assessment. 2019 45th </a:t>
                      </a:r>
                      <a:r>
                        <a:rPr lang="en-US" sz="1200" dirty="0" err="1">
                          <a:latin typeface="Times New Roman" panose="02020603050405020304" pitchFamily="18" charset="0"/>
                          <a:cs typeface="Times New Roman" panose="02020603050405020304" pitchFamily="18" charset="0"/>
                        </a:rPr>
                        <a:t>Euromicro</a:t>
                      </a:r>
                      <a:r>
                        <a:rPr lang="en-US" sz="1200" dirty="0">
                          <a:latin typeface="Times New Roman" panose="02020603050405020304" pitchFamily="18" charset="0"/>
                          <a:cs typeface="Times New Roman" panose="02020603050405020304" pitchFamily="18" charset="0"/>
                        </a:rPr>
                        <a:t> Conference on Software Engineering and Advanced Applications (SEAA), 193–198. </a:t>
                      </a:r>
                      <a:endParaRPr lang="en-US" sz="1200" dirty="0">
                        <a:solidFill>
                          <a:schemeClr val="tx1"/>
                        </a:solidFill>
                        <a:latin typeface="Times New Roman" panose="02020603050405020304" pitchFamily="18" charset="0"/>
                        <a:cs typeface="Times New Roman" panose="02020603050405020304" pitchFamily="18" charset="0"/>
                      </a:endParaRPr>
                    </a:p>
                  </a:txBody>
                  <a:tcPr marL="111975" marR="111975" marT="111975" marB="111975"/>
                </a:tc>
                <a:extLst>
                  <a:ext uri="{0D108BD9-81ED-4DB2-BD59-A6C34878D82A}">
                    <a16:rowId xmlns:a16="http://schemas.microsoft.com/office/drawing/2014/main" val="2990733779"/>
                  </a:ext>
                </a:extLst>
              </a:tr>
            </a:tbl>
          </a:graphicData>
        </a:graphic>
      </p:graphicFrame>
    </p:spTree>
    <p:extLst>
      <p:ext uri="{BB962C8B-B14F-4D97-AF65-F5344CB8AC3E}">
        <p14:creationId xmlns:p14="http://schemas.microsoft.com/office/powerpoint/2010/main" val="3505311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A05EA3-71F7-6B2F-F06D-2C914B2F3C73}"/>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11599A00-1F24-DDF2-7721-3A81E9D5CCB1}"/>
              </a:ext>
            </a:extLst>
          </p:cNvPr>
          <p:cNvSpPr>
            <a:spLocks noGrp="1"/>
          </p:cNvSpPr>
          <p:nvPr>
            <p:ph type="sldNum" sz="quarter" idx="12"/>
          </p:nvPr>
        </p:nvSpPr>
        <p:spPr/>
        <p:txBody>
          <a:bodyPr/>
          <a:lstStyle/>
          <a:p>
            <a:fld id="{B6F15528-21DE-4FAA-801E-634DDDAF4B2B}" type="slidenum">
              <a:rPr lang="en-US" smtClean="0"/>
              <a:pPr/>
              <a:t>7</a:t>
            </a:fld>
            <a:endParaRPr lang="en-US"/>
          </a:p>
        </p:txBody>
      </p:sp>
      <p:graphicFrame>
        <p:nvGraphicFramePr>
          <p:cNvPr id="4" name="Google Shape;111;p18">
            <a:extLst>
              <a:ext uri="{FF2B5EF4-FFF2-40B4-BE49-F238E27FC236}">
                <a16:creationId xmlns:a16="http://schemas.microsoft.com/office/drawing/2014/main" id="{35A5E175-AEA3-6C17-E7E7-D8AA865055AE}"/>
              </a:ext>
            </a:extLst>
          </p:cNvPr>
          <p:cNvGraphicFramePr>
            <a:graphicFrameLocks/>
          </p:cNvGraphicFramePr>
          <p:nvPr>
            <p:extLst>
              <p:ext uri="{D42A27DB-BD31-4B8C-83A1-F6EECF244321}">
                <p14:modId xmlns:p14="http://schemas.microsoft.com/office/powerpoint/2010/main" val="1641744587"/>
              </p:ext>
            </p:extLst>
          </p:nvPr>
        </p:nvGraphicFramePr>
        <p:xfrm>
          <a:off x="204787" y="215986"/>
          <a:ext cx="10245657" cy="7390838"/>
        </p:xfrm>
        <a:graphic>
          <a:graphicData uri="http://schemas.openxmlformats.org/drawingml/2006/table">
            <a:tbl>
              <a:tblPr>
                <a:tableStyleId>{5940675A-B579-460E-94D1-54222C63F5DA}</a:tableStyleId>
              </a:tblPr>
              <a:tblGrid>
                <a:gridCol w="2971800">
                  <a:extLst>
                    <a:ext uri="{9D8B030D-6E8A-4147-A177-3AD203B41FA5}">
                      <a16:colId xmlns:a16="http://schemas.microsoft.com/office/drawing/2014/main" val="20000"/>
                    </a:ext>
                  </a:extLst>
                </a:gridCol>
                <a:gridCol w="4419601">
                  <a:extLst>
                    <a:ext uri="{9D8B030D-6E8A-4147-A177-3AD203B41FA5}">
                      <a16:colId xmlns:a16="http://schemas.microsoft.com/office/drawing/2014/main" val="20001"/>
                    </a:ext>
                  </a:extLst>
                </a:gridCol>
                <a:gridCol w="2854256">
                  <a:extLst>
                    <a:ext uri="{9D8B030D-6E8A-4147-A177-3AD203B41FA5}">
                      <a16:colId xmlns:a16="http://schemas.microsoft.com/office/drawing/2014/main" val="20002"/>
                    </a:ext>
                  </a:extLst>
                </a:gridCol>
              </a:tblGrid>
              <a:tr h="552066">
                <a:tc>
                  <a:txBody>
                    <a:bodyPr/>
                    <a:lstStyle/>
                    <a:p>
                      <a:pPr marL="0" lvl="0" indent="0" algn="l" rtl="0">
                        <a:lnSpc>
                          <a:spcPct val="100000"/>
                        </a:lnSpc>
                        <a:spcBef>
                          <a:spcPts val="0"/>
                        </a:spcBef>
                        <a:spcAft>
                          <a:spcPts val="0"/>
                        </a:spcAft>
                        <a:buClr>
                          <a:schemeClr val="dk1"/>
                        </a:buClr>
                        <a:buSzPts val="1100"/>
                        <a:buFont typeface="Arial"/>
                        <a:buNone/>
                      </a:pPr>
                      <a:r>
                        <a:rPr lang="en-US" sz="1800" b="1" dirty="0">
                          <a:solidFill>
                            <a:schemeClr val="tx1"/>
                          </a:solidFill>
                          <a:latin typeface="Times New Roman" panose="02020603050405020304" pitchFamily="18" charset="0"/>
                          <a:cs typeface="Times New Roman" panose="02020603050405020304" pitchFamily="18" charset="0"/>
                          <a:sym typeface="Times New Roman"/>
                        </a:rPr>
                        <a:t>Objective</a:t>
                      </a:r>
                      <a:endParaRPr sz="1800" b="1" dirty="0">
                        <a:solidFill>
                          <a:schemeClr val="tx1"/>
                        </a:solidFill>
                        <a:latin typeface="Times New Roman" panose="02020603050405020304" pitchFamily="18" charset="0"/>
                        <a:cs typeface="Times New Roman" panose="02020603050405020304" pitchFamily="18" charset="0"/>
                        <a:sym typeface="Times New Roman"/>
                      </a:endParaRPr>
                    </a:p>
                  </a:txBody>
                  <a:tcPr marL="111975" marR="111975" marT="111975" marB="111975"/>
                </a:tc>
                <a:tc>
                  <a:txBody>
                    <a:bodyPr/>
                    <a:lstStyle/>
                    <a:p>
                      <a:pPr marL="0" lvl="0" indent="0" algn="l" rtl="0">
                        <a:lnSpc>
                          <a:spcPct val="100000"/>
                        </a:lnSpc>
                        <a:spcBef>
                          <a:spcPts val="0"/>
                        </a:spcBef>
                        <a:spcAft>
                          <a:spcPts val="0"/>
                        </a:spcAft>
                        <a:buClr>
                          <a:schemeClr val="dk1"/>
                        </a:buClr>
                        <a:buSzPts val="1100"/>
                        <a:buFont typeface="Arial"/>
                        <a:buNone/>
                      </a:pPr>
                      <a:r>
                        <a:rPr lang="en-US" sz="1800" b="1" dirty="0">
                          <a:solidFill>
                            <a:schemeClr val="tx1"/>
                          </a:solidFill>
                          <a:latin typeface="Times New Roman" panose="02020603050405020304" pitchFamily="18" charset="0"/>
                          <a:cs typeface="Times New Roman" panose="02020603050405020304" pitchFamily="18" charset="0"/>
                          <a:sym typeface="Times New Roman"/>
                        </a:rPr>
                        <a:t>Findings</a:t>
                      </a:r>
                      <a:endParaRPr sz="1800" b="1" dirty="0">
                        <a:solidFill>
                          <a:schemeClr val="tx1"/>
                        </a:solidFill>
                        <a:latin typeface="Times New Roman" panose="02020603050405020304" pitchFamily="18" charset="0"/>
                        <a:cs typeface="Times New Roman" panose="02020603050405020304" pitchFamily="18" charset="0"/>
                        <a:sym typeface="Times New Roman"/>
                      </a:endParaRPr>
                    </a:p>
                  </a:txBody>
                  <a:tcPr marL="111975" marR="111975" marT="111975" marB="111975"/>
                </a:tc>
                <a:tc>
                  <a:txBody>
                    <a:bodyPr/>
                    <a:lstStyle/>
                    <a:p>
                      <a:pPr marL="0" lvl="0" indent="0" algn="l" rtl="0">
                        <a:lnSpc>
                          <a:spcPct val="100000"/>
                        </a:lnSpc>
                        <a:spcBef>
                          <a:spcPts val="0"/>
                        </a:spcBef>
                        <a:spcAft>
                          <a:spcPts val="0"/>
                        </a:spcAft>
                        <a:buNone/>
                      </a:pPr>
                      <a:r>
                        <a:rPr lang="en-US" sz="1800" b="1" dirty="0">
                          <a:solidFill>
                            <a:schemeClr val="tx1"/>
                          </a:solidFill>
                          <a:latin typeface="Times New Roman" panose="02020603050405020304" pitchFamily="18" charset="0"/>
                          <a:cs typeface="Times New Roman" panose="02020603050405020304" pitchFamily="18" charset="0"/>
                        </a:rPr>
                        <a:t>Reference</a:t>
                      </a:r>
                    </a:p>
                  </a:txBody>
                  <a:tcPr marL="111975" marR="111975" marT="111975" marB="111975"/>
                </a:tc>
                <a:extLst>
                  <a:ext uri="{0D108BD9-81ED-4DB2-BD59-A6C34878D82A}">
                    <a16:rowId xmlns:a16="http://schemas.microsoft.com/office/drawing/2014/main" val="10000"/>
                  </a:ext>
                </a:extLst>
              </a:tr>
              <a:tr h="1352934">
                <a:tc>
                  <a:txBody>
                    <a:bodyPr/>
                    <a:lstStyle/>
                    <a:p>
                      <a:pPr lvl="0" algn="l">
                        <a:lnSpc>
                          <a:spcPct val="100000"/>
                        </a:lnSpc>
                        <a:buNone/>
                      </a:pPr>
                      <a:r>
                        <a:rPr lang="en-US" sz="20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To improve software </a:t>
                      </a:r>
                      <a:r>
                        <a:rPr lang="en-US" sz="2000" b="0" i="0" u="sng" strike="noStrike" cap="none" dirty="0">
                          <a:solidFill>
                            <a:schemeClr val="tx1"/>
                          </a:solidFill>
                          <a:latin typeface="Times New Roman" panose="02020603050405020304" pitchFamily="18" charset="0"/>
                          <a:ea typeface="+mn-ea"/>
                          <a:cs typeface="Times New Roman" panose="02020603050405020304" pitchFamily="18" charset="0"/>
                          <a:sym typeface="Arial"/>
                        </a:rPr>
                        <a:t>defect prediction </a:t>
                      </a:r>
                      <a:r>
                        <a:rPr lang="en-US" sz="20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accuracy using optimized machine learning techniques.</a:t>
                      </a:r>
                    </a:p>
                  </a:txBody>
                  <a:tcPr marL="111992" marR="111992" marT="55996" marB="55996"/>
                </a:tc>
                <a:tc>
                  <a:txBody>
                    <a:bodyPr/>
                    <a:lstStyle/>
                    <a:p>
                      <a:pPr algn="just">
                        <a:lnSpc>
                          <a:spcPct val="100000"/>
                        </a:lnSpc>
                      </a:pPr>
                      <a:r>
                        <a:rPr lang="en-US" sz="20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The study found </a:t>
                      </a:r>
                      <a:r>
                        <a:rPr lang="en-US" sz="2000" b="0" i="0" u="sng" strike="noStrike" cap="none" dirty="0">
                          <a:solidFill>
                            <a:schemeClr val="tx1"/>
                          </a:solidFill>
                          <a:latin typeface="Times New Roman" panose="02020603050405020304" pitchFamily="18" charset="0"/>
                          <a:ea typeface="+mn-ea"/>
                          <a:cs typeface="Times New Roman" panose="02020603050405020304" pitchFamily="18" charset="0"/>
                          <a:sym typeface="Arial"/>
                        </a:rPr>
                        <a:t>Bayesian Optimization significantly enhanced Random Forest performance</a:t>
                      </a:r>
                      <a:r>
                        <a:rPr lang="en-US" sz="20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 achieving higher accuracy compared to CNN, LSTM, and SVM models.</a:t>
                      </a:r>
                    </a:p>
                  </a:txBody>
                  <a:tcPr marL="111992" marR="111992" marT="55996" marB="55996"/>
                </a:tc>
                <a:tc>
                  <a:txBody>
                    <a:bodyPr/>
                    <a:lstStyle/>
                    <a:p>
                      <a:pPr lvl="0" algn="just">
                        <a:lnSpc>
                          <a:spcPct val="100000"/>
                        </a:lnSpc>
                        <a:buNone/>
                      </a:pPr>
                      <a:r>
                        <a:rPr lang="en-US" sz="1400" dirty="0">
                          <a:latin typeface="Times New Roman" panose="02020603050405020304" pitchFamily="18" charset="0"/>
                          <a:cs typeface="Times New Roman" panose="02020603050405020304" pitchFamily="18" charset="0"/>
                        </a:rPr>
                        <a:t>Shen, Y., Hu, S., Cai, S., &amp; Chen, M. (2022). Software Defect Prediction based on Bayesian Optimization Random Forest. 2022 9th International Conference on Dependable Systems and Their Applications (DSA). </a:t>
                      </a:r>
                      <a:endParaRPr lang="en-US" sz="1400" dirty="0">
                        <a:solidFill>
                          <a:schemeClr val="tx1"/>
                        </a:solidFill>
                        <a:latin typeface="Times New Roman" panose="02020603050405020304" pitchFamily="18" charset="0"/>
                        <a:cs typeface="Times New Roman" panose="02020603050405020304" pitchFamily="18" charset="0"/>
                      </a:endParaRPr>
                    </a:p>
                  </a:txBody>
                  <a:tcPr marL="111992" marR="111992" marT="55996" marB="55996"/>
                </a:tc>
                <a:extLst>
                  <a:ext uri="{0D108BD9-81ED-4DB2-BD59-A6C34878D82A}">
                    <a16:rowId xmlns:a16="http://schemas.microsoft.com/office/drawing/2014/main" val="10002"/>
                  </a:ext>
                </a:extLst>
              </a:tr>
              <a:tr h="0">
                <a:tc>
                  <a:txBody>
                    <a:bodyPr/>
                    <a:lstStyle/>
                    <a:p>
                      <a:pPr marL="0" lvl="0" indent="0" algn="l">
                        <a:lnSpc>
                          <a:spcPct val="100000"/>
                        </a:lnSpc>
                        <a:spcBef>
                          <a:spcPts val="0"/>
                        </a:spcBef>
                        <a:spcAft>
                          <a:spcPts val="0"/>
                        </a:spcAft>
                        <a:buNone/>
                      </a:pPr>
                      <a:r>
                        <a:rPr lang="en-US" sz="2000" dirty="0">
                          <a:solidFill>
                            <a:srgbClr val="000000"/>
                          </a:solidFill>
                          <a:latin typeface="Times New Roman" panose="02020603050405020304" pitchFamily="18" charset="0"/>
                          <a:cs typeface="Times New Roman" panose="02020603050405020304" pitchFamily="18" charset="0"/>
                          <a:sym typeface="Times New Roman"/>
                        </a:rPr>
                        <a:t>To analyze the relationship between monetary bounties and </a:t>
                      </a:r>
                      <a:r>
                        <a:rPr lang="en-US" sz="2000" u="sng" dirty="0">
                          <a:solidFill>
                            <a:srgbClr val="000000"/>
                          </a:solidFill>
                          <a:latin typeface="Times New Roman" panose="02020603050405020304" pitchFamily="18" charset="0"/>
                          <a:cs typeface="Times New Roman" panose="02020603050405020304" pitchFamily="18" charset="0"/>
                          <a:sym typeface="Times New Roman"/>
                        </a:rPr>
                        <a:t>issue resolution</a:t>
                      </a:r>
                      <a:r>
                        <a:rPr lang="en-US" sz="2000" dirty="0">
                          <a:solidFill>
                            <a:srgbClr val="000000"/>
                          </a:solidFill>
                          <a:latin typeface="Times New Roman" panose="02020603050405020304" pitchFamily="18" charset="0"/>
                          <a:cs typeface="Times New Roman" panose="02020603050405020304" pitchFamily="18" charset="0"/>
                          <a:sym typeface="Times New Roman"/>
                        </a:rPr>
                        <a:t> in GitHub projects.</a:t>
                      </a:r>
                    </a:p>
                  </a:txBody>
                  <a:tcPr marL="111975" marR="111975" marT="111975" marB="111975"/>
                </a:tc>
                <a:tc>
                  <a:txBody>
                    <a:bodyPr/>
                    <a:lstStyle/>
                    <a:p>
                      <a:pPr marL="0" indent="0" algn="just">
                        <a:lnSpc>
                          <a:spcPct val="100000"/>
                        </a:lnSpc>
                        <a:buFont typeface="Wingdings" panose="05000000000000000000" pitchFamily="2" charset="2"/>
                        <a:buNone/>
                      </a:pPr>
                      <a:r>
                        <a:rPr lang="en-US" sz="2000" dirty="0">
                          <a:solidFill>
                            <a:srgbClr val="000000"/>
                          </a:solidFill>
                          <a:latin typeface="Times New Roman" pitchFamily="18" charset="0"/>
                          <a:cs typeface="Times New Roman" pitchFamily="18" charset="0"/>
                        </a:rPr>
                        <a:t>The study revealed that early bounty proposals significantly increase the likelihood of issue resolution, </a:t>
                      </a:r>
                      <a:r>
                        <a:rPr lang="en-US" sz="2000" u="sng" dirty="0">
                          <a:solidFill>
                            <a:srgbClr val="000000"/>
                          </a:solidFill>
                          <a:latin typeface="Times New Roman" pitchFamily="18" charset="0"/>
                          <a:cs typeface="Times New Roman" pitchFamily="18" charset="0"/>
                        </a:rPr>
                        <a:t>highlighting the impact of human and economic factors. </a:t>
                      </a:r>
                    </a:p>
                  </a:txBody>
                  <a:tcPr marL="111975" marR="111975" marT="111975" marB="111975"/>
                </a:tc>
                <a:tc>
                  <a:txBody>
                    <a:bodyPr/>
                    <a:lstStyle/>
                    <a:p>
                      <a:pPr marL="0" lvl="0" indent="0" algn="just">
                        <a:lnSpc>
                          <a:spcPct val="100000"/>
                        </a:lnSpc>
                        <a:spcBef>
                          <a:spcPts val="0"/>
                        </a:spcBef>
                        <a:spcAft>
                          <a:spcPts val="0"/>
                        </a:spcAft>
                        <a:buNone/>
                      </a:pPr>
                      <a:r>
                        <a:rPr lang="en-US" sz="1400" dirty="0">
                          <a:latin typeface="Times New Roman" panose="02020603050405020304" pitchFamily="18" charset="0"/>
                          <a:cs typeface="Times New Roman" panose="02020603050405020304" pitchFamily="18" charset="0"/>
                        </a:rPr>
                        <a:t>Zhou, J., Wang, S., </a:t>
                      </a:r>
                      <a:r>
                        <a:rPr lang="en-US" sz="1400" dirty="0" err="1">
                          <a:latin typeface="Times New Roman" panose="02020603050405020304" pitchFamily="18" charset="0"/>
                          <a:cs typeface="Times New Roman" panose="02020603050405020304" pitchFamily="18" charset="0"/>
                        </a:rPr>
                        <a:t>Bezemer</a:t>
                      </a:r>
                      <a:r>
                        <a:rPr lang="en-US" sz="1400" dirty="0">
                          <a:latin typeface="Times New Roman" panose="02020603050405020304" pitchFamily="18" charset="0"/>
                          <a:cs typeface="Times New Roman" panose="02020603050405020304" pitchFamily="18" charset="0"/>
                        </a:rPr>
                        <a:t>, C.-P., Zou, Y., &amp; Hassan, A. E. (2021). Studying the Association Between </a:t>
                      </a:r>
                      <a:r>
                        <a:rPr lang="en-US" sz="1400" dirty="0" err="1">
                          <a:latin typeface="Times New Roman" panose="02020603050405020304" pitchFamily="18" charset="0"/>
                          <a:cs typeface="Times New Roman" panose="02020603050405020304" pitchFamily="18" charset="0"/>
                        </a:rPr>
                        <a:t>Bountysource</a:t>
                      </a:r>
                      <a:r>
                        <a:rPr lang="en-US" sz="1400" dirty="0">
                          <a:latin typeface="Times New Roman" panose="02020603050405020304" pitchFamily="18" charset="0"/>
                          <a:cs typeface="Times New Roman" panose="02020603050405020304" pitchFamily="18" charset="0"/>
                        </a:rPr>
                        <a:t> Bounties and the Issue-Addressing Likelihood of GitHub Issue Reports. IEEE Transactions on Software Engineering, 47(12), 2919–2933. </a:t>
                      </a:r>
                      <a:endParaRPr sz="1400" b="0" dirty="0">
                        <a:solidFill>
                          <a:schemeClr val="tx1"/>
                        </a:solidFill>
                        <a:latin typeface="Times New Roman" panose="02020603050405020304" pitchFamily="18" charset="0"/>
                        <a:cs typeface="Times New Roman" panose="02020603050405020304" pitchFamily="18" charset="0"/>
                      </a:endParaRPr>
                    </a:p>
                  </a:txBody>
                  <a:tcPr marL="111975" marR="111975" marT="111975" marB="111975"/>
                </a:tc>
                <a:extLst>
                  <a:ext uri="{0D108BD9-81ED-4DB2-BD59-A6C34878D82A}">
                    <a16:rowId xmlns:a16="http://schemas.microsoft.com/office/drawing/2014/main" val="3313128367"/>
                  </a:ext>
                </a:extLst>
              </a:tr>
              <a:tr h="1706064">
                <a:tc>
                  <a:txBody>
                    <a:bodyPr/>
                    <a:lstStyle/>
                    <a:p>
                      <a:pPr marL="0" lvl="0" indent="0" algn="l">
                        <a:lnSpc>
                          <a:spcPct val="100000"/>
                        </a:lnSpc>
                        <a:spcBef>
                          <a:spcPts val="0"/>
                        </a:spcBef>
                        <a:spcAft>
                          <a:spcPts val="0"/>
                        </a:spcAft>
                        <a:buNone/>
                      </a:pPr>
                      <a:r>
                        <a:rPr lang="en-US" sz="2000" dirty="0">
                          <a:solidFill>
                            <a:srgbClr val="000000"/>
                          </a:solidFill>
                          <a:latin typeface="Times New Roman" panose="02020603050405020304" pitchFamily="18" charset="0"/>
                          <a:cs typeface="Times New Roman" panose="02020603050405020304" pitchFamily="18" charset="0"/>
                          <a:sym typeface="Times New Roman"/>
                        </a:rPr>
                        <a:t>To develop a Multi-Model Machine Learning framework that integrates pre-commit code quality analysis with predictive risk assessment for GitHub repository health.</a:t>
                      </a:r>
                    </a:p>
                  </a:txBody>
                  <a:tcPr marL="111975" marR="111975" marT="111975" marB="111975"/>
                </a:tc>
                <a:tc>
                  <a:txBody>
                    <a:bodyPr/>
                    <a:lstStyle/>
                    <a:p>
                      <a:pPr marL="0" indent="0" algn="just">
                        <a:lnSpc>
                          <a:spcPct val="100000"/>
                        </a:lnSpc>
                        <a:buFont typeface="Wingdings" panose="05000000000000000000" pitchFamily="2" charset="2"/>
                        <a:buNone/>
                      </a:pPr>
                      <a:r>
                        <a:rPr lang="en-US" sz="2000" b="0" u="sng" dirty="0">
                          <a:solidFill>
                            <a:srgbClr val="000000"/>
                          </a:solidFill>
                          <a:latin typeface="Times New Roman" pitchFamily="18" charset="0"/>
                          <a:cs typeface="Times New Roman" pitchFamily="18" charset="0"/>
                        </a:rPr>
                        <a:t>This study proposes a unified framework </a:t>
                      </a:r>
                      <a:r>
                        <a:rPr lang="en-US" sz="2000" b="0" u="sng" dirty="0" err="1">
                          <a:solidFill>
                            <a:srgbClr val="000000"/>
                          </a:solidFill>
                          <a:latin typeface="Times New Roman" pitchFamily="18" charset="0"/>
                          <a:cs typeface="Times New Roman" pitchFamily="18" charset="0"/>
                        </a:rPr>
                        <a:t>GitScope</a:t>
                      </a:r>
                      <a:r>
                        <a:rPr lang="en-US" sz="2000" b="0" u="sng" dirty="0">
                          <a:solidFill>
                            <a:srgbClr val="000000"/>
                          </a:solidFill>
                          <a:latin typeface="Times New Roman" pitchFamily="18" charset="0"/>
                          <a:cs typeface="Times New Roman" pitchFamily="18" charset="0"/>
                        </a:rPr>
                        <a:t> AI that correlates pre-commit code quality metrics with repository-level risk indicators. Unlike prior studies that address these aspects independently, this work integrates static code analysis,  popularity prediction, and defect detection into a single predictive health assessment system for GitHub repositories.</a:t>
                      </a:r>
                    </a:p>
                  </a:txBody>
                  <a:tcPr marL="111975" marR="111975" marT="111975" marB="111975"/>
                </a:tc>
                <a:tc>
                  <a:txBody>
                    <a:bodyPr/>
                    <a:lstStyle/>
                    <a:p>
                      <a:pPr marL="0" lvl="0" indent="0" algn="ctr">
                        <a:lnSpc>
                          <a:spcPct val="100000"/>
                        </a:lnSpc>
                        <a:spcBef>
                          <a:spcPts val="0"/>
                        </a:spcBef>
                        <a:spcAft>
                          <a:spcPts val="0"/>
                        </a:spcAft>
                        <a:buNone/>
                      </a:pPr>
                      <a:endParaRPr lang="en-US" sz="3600" b="1" dirty="0">
                        <a:solidFill>
                          <a:schemeClr val="tx1"/>
                        </a:solidFill>
                        <a:latin typeface="Times New Roman" panose="02020603050405020304" pitchFamily="18" charset="0"/>
                        <a:cs typeface="Times New Roman" panose="02020603050405020304" pitchFamily="18" charset="0"/>
                      </a:endParaRPr>
                    </a:p>
                    <a:p>
                      <a:pPr marL="0" lvl="0" indent="0" algn="ctr">
                        <a:lnSpc>
                          <a:spcPct val="100000"/>
                        </a:lnSpc>
                        <a:spcBef>
                          <a:spcPts val="0"/>
                        </a:spcBef>
                        <a:spcAft>
                          <a:spcPts val="0"/>
                        </a:spcAft>
                        <a:buNone/>
                      </a:pPr>
                      <a:endParaRPr lang="en-US" sz="3600" b="1" dirty="0">
                        <a:solidFill>
                          <a:schemeClr val="tx1"/>
                        </a:solidFill>
                        <a:latin typeface="Times New Roman" panose="02020603050405020304" pitchFamily="18" charset="0"/>
                        <a:cs typeface="Times New Roman" panose="02020603050405020304" pitchFamily="18" charset="0"/>
                      </a:endParaRPr>
                    </a:p>
                    <a:p>
                      <a:pPr marL="0" lvl="0" indent="0" algn="ctr">
                        <a:lnSpc>
                          <a:spcPct val="100000"/>
                        </a:lnSpc>
                        <a:spcBef>
                          <a:spcPts val="0"/>
                        </a:spcBef>
                        <a:spcAft>
                          <a:spcPts val="0"/>
                        </a:spcAft>
                        <a:buNone/>
                      </a:pPr>
                      <a:r>
                        <a:rPr lang="en-US" sz="3600" b="1" dirty="0">
                          <a:solidFill>
                            <a:schemeClr val="tx1"/>
                          </a:solidFill>
                          <a:latin typeface="Times New Roman" panose="02020603050405020304" pitchFamily="18" charset="0"/>
                          <a:cs typeface="Times New Roman" panose="02020603050405020304" pitchFamily="18" charset="0"/>
                        </a:rPr>
                        <a:t>This Study</a:t>
                      </a:r>
                      <a:endParaRPr sz="3600" b="1" dirty="0">
                        <a:solidFill>
                          <a:schemeClr val="tx1"/>
                        </a:solidFill>
                        <a:latin typeface="Times New Roman" panose="02020603050405020304" pitchFamily="18" charset="0"/>
                        <a:cs typeface="Times New Roman" panose="02020603050405020304" pitchFamily="18" charset="0"/>
                      </a:endParaRPr>
                    </a:p>
                  </a:txBody>
                  <a:tcPr marL="111975" marR="111975" marT="111975" marB="111975"/>
                </a:tc>
                <a:extLst>
                  <a:ext uri="{0D108BD9-81ED-4DB2-BD59-A6C34878D82A}">
                    <a16:rowId xmlns:a16="http://schemas.microsoft.com/office/drawing/2014/main" val="2112387181"/>
                  </a:ext>
                </a:extLst>
              </a:tr>
            </a:tbl>
          </a:graphicData>
        </a:graphic>
      </p:graphicFrame>
    </p:spTree>
    <p:extLst>
      <p:ext uri="{BB962C8B-B14F-4D97-AF65-F5344CB8AC3E}">
        <p14:creationId xmlns:p14="http://schemas.microsoft.com/office/powerpoint/2010/main" val="999360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89BCBA-2C6E-B7AD-DF2E-7B7FDC0E9FFB}"/>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FE4A32CD-3278-AC2F-88BE-3F7BC8924BFD}"/>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4" name="TextBox 3">
            <a:extLst>
              <a:ext uri="{FF2B5EF4-FFF2-40B4-BE49-F238E27FC236}">
                <a16:creationId xmlns:a16="http://schemas.microsoft.com/office/drawing/2014/main" id="{E58CE333-FFB7-653C-1072-6A4DD8654941}"/>
              </a:ext>
            </a:extLst>
          </p:cNvPr>
          <p:cNvSpPr txBox="1"/>
          <p:nvPr/>
        </p:nvSpPr>
        <p:spPr>
          <a:xfrm>
            <a:off x="437647" y="197129"/>
            <a:ext cx="9611722" cy="7320274"/>
          </a:xfrm>
          <a:prstGeom prst="rect">
            <a:avLst/>
          </a:prstGeom>
          <a:noFill/>
        </p:spPr>
        <p:txBody>
          <a:bodyPr wrap="square" rtlCol="0">
            <a:spAutoFit/>
          </a:bodyPr>
          <a:lstStyle/>
          <a:p>
            <a:pPr>
              <a:lnSpc>
                <a:spcPct val="150000"/>
              </a:lnSpc>
            </a:pPr>
            <a:r>
              <a:rPr lang="en-US" sz="2800" b="1" dirty="0">
                <a:solidFill>
                  <a:srgbClr val="FF0000"/>
                </a:solidFill>
                <a:latin typeface="Times New Roman" panose="02020603050405020304" pitchFamily="18" charset="0"/>
                <a:cs typeface="Times New Roman" panose="02020603050405020304" pitchFamily="18" charset="0"/>
              </a:rPr>
              <a:t>Objectives:</a:t>
            </a:r>
          </a:p>
          <a:p>
            <a:pPr marL="457200" indent="-4572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investigate which repository activity features commit frequency, issue density, and contributor count have the strongest predictive value for classifying repository popularity and defect risk.</a:t>
            </a:r>
          </a:p>
          <a:p>
            <a:pPr marL="457200" indent="-4572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evaluate whether pre-commit static analysis catches quality violations that standard IDE tools miss, and measure how much earlier it surfaces them.</a:t>
            </a:r>
          </a:p>
          <a:p>
            <a:pPr marL="457200" indent="-4572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compare the classification accuracy of ensemble models (Random Forest,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against simpler baselines (Logistic Regression, KNN, MLP) on repository-level prediction tasks.</a:t>
            </a:r>
          </a:p>
          <a:p>
            <a:pPr marL="457200" indent="-4572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assess whether combining code quality, popularity, defect risk, and bounty data in one framework gives developers more useful insights than using each tool separately.</a:t>
            </a:r>
          </a:p>
        </p:txBody>
      </p:sp>
    </p:spTree>
    <p:extLst>
      <p:ext uri="{BB962C8B-B14F-4D97-AF65-F5344CB8AC3E}">
        <p14:creationId xmlns:p14="http://schemas.microsoft.com/office/powerpoint/2010/main" val="457868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6FF1D2-E0D1-07E1-24B5-AB510DB4D6E4}"/>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60FADE7A-8C1C-94A0-7B10-4434B88A4E15}"/>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7" name="TextBox 6">
            <a:extLst>
              <a:ext uri="{FF2B5EF4-FFF2-40B4-BE49-F238E27FC236}">
                <a16:creationId xmlns:a16="http://schemas.microsoft.com/office/drawing/2014/main" id="{7F4EA359-C97A-A439-86B0-65923F757EF2}"/>
              </a:ext>
            </a:extLst>
          </p:cNvPr>
          <p:cNvSpPr txBox="1"/>
          <p:nvPr/>
        </p:nvSpPr>
        <p:spPr>
          <a:xfrm>
            <a:off x="2655379" y="114145"/>
            <a:ext cx="5309616" cy="646331"/>
          </a:xfrm>
          <a:prstGeom prst="rect">
            <a:avLst/>
          </a:prstGeom>
          <a:noFill/>
        </p:spPr>
        <p:txBody>
          <a:bodyPr wrap="square">
            <a:spAutoFit/>
          </a:bodyPr>
          <a:lstStyle/>
          <a:p>
            <a:pPr algn="ctr" rtl="0">
              <a:buNone/>
            </a:pPr>
            <a:r>
              <a:rPr lang="en-IN" sz="3600" b="1" i="0" u="none" strike="noStrike" dirty="0">
                <a:solidFill>
                  <a:srgbClr val="FF0000"/>
                </a:solidFill>
                <a:effectLst/>
                <a:latin typeface="Times New Roman" panose="02020603050405020304" pitchFamily="18" charset="0"/>
                <a:cs typeface="Times New Roman" panose="02020603050405020304" pitchFamily="18" charset="0"/>
              </a:rPr>
              <a:t>Methodology</a:t>
            </a:r>
            <a:endParaRPr lang="en-IN" sz="3600" b="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B6A6ACC-2AEC-C26A-8CEF-BBA9EFE3D6B2}"/>
              </a:ext>
            </a:extLst>
          </p:cNvPr>
          <p:cNvSpPr txBox="1"/>
          <p:nvPr/>
        </p:nvSpPr>
        <p:spPr>
          <a:xfrm>
            <a:off x="3290887" y="838243"/>
            <a:ext cx="4038600" cy="461665"/>
          </a:xfrm>
          <a:prstGeom prst="rect">
            <a:avLst/>
          </a:prstGeom>
          <a:noFill/>
          <a:ln>
            <a:solidFill>
              <a:schemeClr val="tx1"/>
            </a:solidFill>
          </a:ln>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GitHub Repository Selection</a:t>
            </a:r>
          </a:p>
        </p:txBody>
      </p:sp>
      <p:sp>
        <p:nvSpPr>
          <p:cNvPr id="10" name="TextBox 9">
            <a:extLst>
              <a:ext uri="{FF2B5EF4-FFF2-40B4-BE49-F238E27FC236}">
                <a16:creationId xmlns:a16="http://schemas.microsoft.com/office/drawing/2014/main" id="{060222A4-3482-6482-DF22-5B893257540B}"/>
              </a:ext>
            </a:extLst>
          </p:cNvPr>
          <p:cNvSpPr txBox="1"/>
          <p:nvPr/>
        </p:nvSpPr>
        <p:spPr>
          <a:xfrm>
            <a:off x="1081089" y="1741168"/>
            <a:ext cx="8458195"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Data Collection from GitHub (Events, Commits, Issues, Bounties)</a:t>
            </a:r>
          </a:p>
        </p:txBody>
      </p:sp>
      <p:sp>
        <p:nvSpPr>
          <p:cNvPr id="11" name="TextBox 10">
            <a:extLst>
              <a:ext uri="{FF2B5EF4-FFF2-40B4-BE49-F238E27FC236}">
                <a16:creationId xmlns:a16="http://schemas.microsoft.com/office/drawing/2014/main" id="{48CF78E7-586F-7293-0BE8-7B6D90A2CF8F}"/>
              </a:ext>
            </a:extLst>
          </p:cNvPr>
          <p:cNvSpPr txBox="1"/>
          <p:nvPr/>
        </p:nvSpPr>
        <p:spPr>
          <a:xfrm>
            <a:off x="2602456" y="2622063"/>
            <a:ext cx="5415461" cy="477396"/>
          </a:xfrm>
          <a:prstGeom prst="rect">
            <a:avLst/>
          </a:prstGeom>
          <a:noFill/>
          <a:ln>
            <a:solidFill>
              <a:schemeClr val="tx1"/>
            </a:solidFill>
          </a:ln>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Data Preprocessing &amp; Feature Extraction</a:t>
            </a:r>
          </a:p>
        </p:txBody>
      </p:sp>
      <p:sp>
        <p:nvSpPr>
          <p:cNvPr id="12" name="TextBox 11">
            <a:extLst>
              <a:ext uri="{FF2B5EF4-FFF2-40B4-BE49-F238E27FC236}">
                <a16:creationId xmlns:a16="http://schemas.microsoft.com/office/drawing/2014/main" id="{32692704-351E-F026-29E0-89B34F896236}"/>
              </a:ext>
            </a:extLst>
          </p:cNvPr>
          <p:cNvSpPr txBox="1"/>
          <p:nvPr/>
        </p:nvSpPr>
        <p:spPr>
          <a:xfrm>
            <a:off x="1214438" y="3518689"/>
            <a:ext cx="8191495"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Feature Engineering (Code, Activity, Popularity, Defect Metrics)</a:t>
            </a:r>
            <a:endParaRPr lang="en-IN" sz="2400" dirty="0">
              <a:latin typeface="Times New Roman" panose="02020603050405020304" pitchFamily="18" charset="0"/>
              <a:cs typeface="Times New Roman" panose="02020603050405020304" pitchFamily="18" charset="0"/>
            </a:endParaRPr>
          </a:p>
        </p:txBody>
      </p:sp>
      <p:cxnSp>
        <p:nvCxnSpPr>
          <p:cNvPr id="19" name="Straight Arrow Connector 18">
            <a:extLst>
              <a:ext uri="{FF2B5EF4-FFF2-40B4-BE49-F238E27FC236}">
                <a16:creationId xmlns:a16="http://schemas.microsoft.com/office/drawing/2014/main" id="{F968E01B-D7CA-EAAE-0642-87ED9EEFA01C}"/>
              </a:ext>
            </a:extLst>
          </p:cNvPr>
          <p:cNvCxnSpPr>
            <a:cxnSpLocks/>
          </p:cNvCxnSpPr>
          <p:nvPr/>
        </p:nvCxnSpPr>
        <p:spPr>
          <a:xfrm>
            <a:off x="5310186" y="2197101"/>
            <a:ext cx="0" cy="4249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DB1A3ED3-A07F-0637-6C6D-B4C44B61860E}"/>
              </a:ext>
            </a:extLst>
          </p:cNvPr>
          <p:cNvCxnSpPr>
            <a:cxnSpLocks/>
            <a:stCxn id="11" idx="2"/>
            <a:endCxn id="12" idx="0"/>
          </p:cNvCxnSpPr>
          <p:nvPr/>
        </p:nvCxnSpPr>
        <p:spPr>
          <a:xfrm flipH="1">
            <a:off x="5310186" y="3099459"/>
            <a:ext cx="1" cy="4192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8C374AC2-B1ED-ABD4-771E-D13BD34B1715}"/>
              </a:ext>
            </a:extLst>
          </p:cNvPr>
          <p:cNvSpPr txBox="1"/>
          <p:nvPr/>
        </p:nvSpPr>
        <p:spPr>
          <a:xfrm>
            <a:off x="2557382" y="5787259"/>
            <a:ext cx="5505606" cy="461665"/>
          </a:xfrm>
          <a:prstGeom prst="rect">
            <a:avLst/>
          </a:prstGeom>
          <a:noFill/>
          <a:ln>
            <a:solidFill>
              <a:schemeClr val="tx1"/>
            </a:solidFill>
          </a:ln>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Result Visualization &amp; Decision Support</a:t>
            </a:r>
          </a:p>
        </p:txBody>
      </p:sp>
      <p:sp>
        <p:nvSpPr>
          <p:cNvPr id="6" name="TextBox 5">
            <a:extLst>
              <a:ext uri="{FF2B5EF4-FFF2-40B4-BE49-F238E27FC236}">
                <a16:creationId xmlns:a16="http://schemas.microsoft.com/office/drawing/2014/main" id="{2F1B14D9-AD27-B753-52FF-8E49F8232E41}"/>
              </a:ext>
            </a:extLst>
          </p:cNvPr>
          <p:cNvSpPr txBox="1"/>
          <p:nvPr/>
        </p:nvSpPr>
        <p:spPr>
          <a:xfrm>
            <a:off x="414768" y="4554902"/>
            <a:ext cx="9790836"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Machine Learning Models (Random Forest,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for Defect Prediction)</a:t>
            </a:r>
          </a:p>
        </p:txBody>
      </p:sp>
      <p:cxnSp>
        <p:nvCxnSpPr>
          <p:cNvPr id="16" name="Straight Arrow Connector 15">
            <a:extLst>
              <a:ext uri="{FF2B5EF4-FFF2-40B4-BE49-F238E27FC236}">
                <a16:creationId xmlns:a16="http://schemas.microsoft.com/office/drawing/2014/main" id="{61F32848-E6CA-7C91-FCC6-92D5BCBE5A6B}"/>
              </a:ext>
            </a:extLst>
          </p:cNvPr>
          <p:cNvCxnSpPr>
            <a:cxnSpLocks/>
            <a:stCxn id="12" idx="2"/>
            <a:endCxn id="6" idx="0"/>
          </p:cNvCxnSpPr>
          <p:nvPr/>
        </p:nvCxnSpPr>
        <p:spPr>
          <a:xfrm>
            <a:off x="5310186" y="3980354"/>
            <a:ext cx="0" cy="5745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439CA1FC-D7E8-5DEE-1462-A7C590074D9C}"/>
              </a:ext>
            </a:extLst>
          </p:cNvPr>
          <p:cNvCxnSpPr>
            <a:cxnSpLocks/>
            <a:stCxn id="6" idx="2"/>
            <a:endCxn id="28" idx="0"/>
          </p:cNvCxnSpPr>
          <p:nvPr/>
        </p:nvCxnSpPr>
        <p:spPr>
          <a:xfrm flipH="1">
            <a:off x="5310185" y="5016567"/>
            <a:ext cx="1" cy="7706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29BB03C4-6567-A008-B966-3C2CB63D9ACB}"/>
              </a:ext>
            </a:extLst>
          </p:cNvPr>
          <p:cNvCxnSpPr>
            <a:stCxn id="9" idx="2"/>
            <a:endCxn id="10" idx="0"/>
          </p:cNvCxnSpPr>
          <p:nvPr/>
        </p:nvCxnSpPr>
        <p:spPr>
          <a:xfrm>
            <a:off x="5310187" y="1299908"/>
            <a:ext cx="0" cy="441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01180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AA9D96-F374-908F-262E-4224AD209FD1}"/>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B1334781-7308-8BF1-C007-81B9B8D2FABA}"/>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4" name="TextBox 3">
            <a:extLst>
              <a:ext uri="{FF2B5EF4-FFF2-40B4-BE49-F238E27FC236}">
                <a16:creationId xmlns:a16="http://schemas.microsoft.com/office/drawing/2014/main" id="{D4827AE7-6777-2AB7-F57C-5850F484484E}"/>
              </a:ext>
            </a:extLst>
          </p:cNvPr>
          <p:cNvSpPr txBox="1"/>
          <p:nvPr/>
        </p:nvSpPr>
        <p:spPr>
          <a:xfrm>
            <a:off x="2655379" y="114145"/>
            <a:ext cx="5309616" cy="646331"/>
          </a:xfrm>
          <a:prstGeom prst="rect">
            <a:avLst/>
          </a:prstGeom>
          <a:noFill/>
        </p:spPr>
        <p:txBody>
          <a:bodyPr wrap="square">
            <a:spAutoFit/>
          </a:bodyPr>
          <a:lstStyle/>
          <a:p>
            <a:pPr algn="ctr" rtl="0">
              <a:buNone/>
            </a:pPr>
            <a:r>
              <a:rPr lang="en-IN" sz="3600" b="1" dirty="0">
                <a:solidFill>
                  <a:srgbClr val="FF0000"/>
                </a:solidFill>
                <a:latin typeface="Times New Roman" panose="02020603050405020304" pitchFamily="18" charset="0"/>
                <a:cs typeface="Times New Roman" panose="02020603050405020304" pitchFamily="18" charset="0"/>
              </a:rPr>
              <a:t>Requirements</a:t>
            </a:r>
            <a:endParaRPr lang="en-IN" sz="3600" b="0" dirty="0">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81D2704-ED1B-5E6C-FE49-7DDFC5729294}"/>
              </a:ext>
            </a:extLst>
          </p:cNvPr>
          <p:cNvGraphicFramePr>
            <a:graphicFrameLocks noGrp="1"/>
          </p:cNvGraphicFramePr>
          <p:nvPr>
            <p:extLst>
              <p:ext uri="{D42A27DB-BD31-4B8C-83A1-F6EECF244321}">
                <p14:modId xmlns:p14="http://schemas.microsoft.com/office/powerpoint/2010/main" val="3122594564"/>
              </p:ext>
            </p:extLst>
          </p:nvPr>
        </p:nvGraphicFramePr>
        <p:xfrm>
          <a:off x="357188" y="760476"/>
          <a:ext cx="10093256" cy="6522720"/>
        </p:xfrm>
        <a:graphic>
          <a:graphicData uri="http://schemas.openxmlformats.org/drawingml/2006/table">
            <a:tbl>
              <a:tblPr>
                <a:tableStyleId>{5940675A-B579-460E-94D1-54222C63F5DA}</a:tableStyleId>
              </a:tblPr>
              <a:tblGrid>
                <a:gridCol w="1328060">
                  <a:extLst>
                    <a:ext uri="{9D8B030D-6E8A-4147-A177-3AD203B41FA5}">
                      <a16:colId xmlns:a16="http://schemas.microsoft.com/office/drawing/2014/main" val="3456280517"/>
                    </a:ext>
                  </a:extLst>
                </a:gridCol>
                <a:gridCol w="2065871">
                  <a:extLst>
                    <a:ext uri="{9D8B030D-6E8A-4147-A177-3AD203B41FA5}">
                      <a16:colId xmlns:a16="http://schemas.microsoft.com/office/drawing/2014/main" val="1390498806"/>
                    </a:ext>
                  </a:extLst>
                </a:gridCol>
                <a:gridCol w="6699325">
                  <a:extLst>
                    <a:ext uri="{9D8B030D-6E8A-4147-A177-3AD203B41FA5}">
                      <a16:colId xmlns:a16="http://schemas.microsoft.com/office/drawing/2014/main" val="598908735"/>
                    </a:ext>
                  </a:extLst>
                </a:gridCol>
              </a:tblGrid>
              <a:tr h="203200">
                <a:tc>
                  <a:txBody>
                    <a:bodyPr/>
                    <a:lstStyle/>
                    <a:p>
                      <a:pPr algn="ctr">
                        <a:buNone/>
                      </a:pPr>
                      <a:r>
                        <a:rPr lang="en-IN" sz="1800" b="1" dirty="0">
                          <a:effectLst/>
                          <a:latin typeface="Times New Roman" panose="02020603050405020304" pitchFamily="18" charset="0"/>
                          <a:cs typeface="Times New Roman" panose="02020603050405020304" pitchFamily="18" charset="0"/>
                        </a:rPr>
                        <a:t>Category</a:t>
                      </a:r>
                      <a:endPar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lgn="ctr">
                        <a:buNone/>
                      </a:pPr>
                      <a:r>
                        <a:rPr lang="en-IN" sz="1800" b="1" dirty="0">
                          <a:effectLst/>
                          <a:latin typeface="Times New Roman" panose="02020603050405020304" pitchFamily="18" charset="0"/>
                          <a:cs typeface="Times New Roman" panose="02020603050405020304" pitchFamily="18" charset="0"/>
                        </a:rPr>
                        <a:t>Tool / Technology</a:t>
                      </a:r>
                      <a:endPar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lgn="ctr">
                        <a:buNone/>
                      </a:pPr>
                      <a:r>
                        <a:rPr lang="en-IN" sz="1800" b="1" dirty="0">
                          <a:effectLst/>
                          <a:latin typeface="Times New Roman" panose="02020603050405020304" pitchFamily="18" charset="0"/>
                          <a:cs typeface="Times New Roman" panose="02020603050405020304" pitchFamily="18" charset="0"/>
                        </a:rPr>
                        <a:t>Why It Was Used</a:t>
                      </a:r>
                      <a:endPar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4294223636"/>
                  </a:ext>
                </a:extLst>
              </a:tr>
              <a:tr h="203200">
                <a:tc>
                  <a:txBody>
                    <a:bodyPr/>
                    <a:lstStyle/>
                    <a:p>
                      <a:pPr algn="ctr">
                        <a:buNone/>
                      </a:pPr>
                      <a:r>
                        <a:rPr lang="en-IN" sz="1800" dirty="0">
                          <a:effectLst/>
                          <a:latin typeface="Times New Roman" panose="02020603050405020304" pitchFamily="18" charset="0"/>
                          <a:cs typeface="Times New Roman" panose="02020603050405020304" pitchFamily="18" charset="0"/>
                        </a:rPr>
                        <a:t>Frontend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a:effectLst/>
                          <a:latin typeface="Times New Roman" panose="02020603050405020304" pitchFamily="18" charset="0"/>
                          <a:cs typeface="Times New Roman" panose="02020603050405020304" pitchFamily="18" charset="0"/>
                        </a:rPr>
                        <a:t>React.js, Tailwind CSS, Chart.js, Axios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a:effectLst/>
                          <a:latin typeface="Times New Roman" panose="02020603050405020304" pitchFamily="18" charset="0"/>
                          <a:cs typeface="Times New Roman" panose="02020603050405020304" pitchFamily="18" charset="0"/>
                        </a:rPr>
                        <a:t>Builds interactive UI, handles responsive styling, renders graphs, and manages API calls.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2386927395"/>
                  </a:ext>
                </a:extLst>
              </a:tr>
              <a:tr h="203200">
                <a:tc>
                  <a:txBody>
                    <a:bodyPr/>
                    <a:lstStyle/>
                    <a:p>
                      <a:pPr algn="ctr">
                        <a:buNone/>
                      </a:pPr>
                      <a:r>
                        <a:rPr lang="en-IN" sz="1800">
                          <a:effectLst/>
                          <a:latin typeface="Times New Roman" panose="02020603050405020304" pitchFamily="18" charset="0"/>
                          <a:cs typeface="Times New Roman" panose="02020603050405020304" pitchFamily="18" charset="0"/>
                        </a:rPr>
                        <a:t>Backend</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err="1">
                          <a:effectLst/>
                          <a:latin typeface="Times New Roman" panose="02020603050405020304" pitchFamily="18" charset="0"/>
                          <a:cs typeface="Times New Roman" panose="02020603050405020304" pitchFamily="18" charset="0"/>
                        </a:rPr>
                        <a:t>FastAPI</a:t>
                      </a:r>
                      <a:r>
                        <a:rPr lang="en-IN" sz="1800" dirty="0">
                          <a:effectLst/>
                          <a:latin typeface="Times New Roman" panose="02020603050405020304" pitchFamily="18" charset="0"/>
                          <a:cs typeface="Times New Roman" panose="02020603050405020304" pitchFamily="18" charset="0"/>
                        </a:rPr>
                        <a:t>, </a:t>
                      </a:r>
                      <a:r>
                        <a:rPr lang="en-IN" sz="1800" dirty="0" err="1">
                          <a:effectLst/>
                          <a:latin typeface="Times New Roman" panose="02020603050405020304" pitchFamily="18" charset="0"/>
                          <a:cs typeface="Times New Roman" panose="02020603050405020304" pitchFamily="18" charset="0"/>
                        </a:rPr>
                        <a:t>Uvicorn</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a:effectLst/>
                          <a:latin typeface="Times New Roman" panose="02020603050405020304" pitchFamily="18" charset="0"/>
                          <a:cs typeface="Times New Roman" panose="02020603050405020304" pitchFamily="18" charset="0"/>
                        </a:rPr>
                        <a:t>Handles API endpoints with request validation; Uvicorn runs it as an async ASGI server.</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2351939210"/>
                  </a:ext>
                </a:extLst>
              </a:tr>
              <a:tr h="203200">
                <a:tc>
                  <a:txBody>
                    <a:bodyPr/>
                    <a:lstStyle/>
                    <a:p>
                      <a:pPr algn="ctr">
                        <a:buNone/>
                      </a:pPr>
                      <a:r>
                        <a:rPr lang="en-IN" sz="1800">
                          <a:effectLst/>
                          <a:latin typeface="Times New Roman" panose="02020603050405020304" pitchFamily="18" charset="0"/>
                          <a:cs typeface="Times New Roman" panose="02020603050405020304" pitchFamily="18" charset="0"/>
                        </a:rPr>
                        <a:t>Database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MongoDB</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Stores user profiles, session tokens, and analysis history in a flexible NoSQL schema.</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3177891617"/>
                  </a:ext>
                </a:extLst>
              </a:tr>
              <a:tr h="203200">
                <a:tc>
                  <a:txBody>
                    <a:bodyPr/>
                    <a:lstStyle/>
                    <a:p>
                      <a:pPr algn="ctr">
                        <a:buNone/>
                      </a:pPr>
                      <a:r>
                        <a:rPr lang="en-IN" sz="1800">
                          <a:effectLst/>
                          <a:latin typeface="Times New Roman" panose="02020603050405020304" pitchFamily="18" charset="0"/>
                          <a:cs typeface="Times New Roman" panose="02020603050405020304" pitchFamily="18" charset="0"/>
                        </a:rPr>
                        <a:t>ML Libraries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Scikit-learn, </a:t>
                      </a:r>
                      <a:r>
                        <a:rPr lang="en-IN" sz="1800" dirty="0" err="1">
                          <a:effectLst/>
                          <a:latin typeface="Times New Roman" panose="02020603050405020304" pitchFamily="18" charset="0"/>
                          <a:cs typeface="Times New Roman" panose="02020603050405020304" pitchFamily="18" charset="0"/>
                        </a:rPr>
                        <a:t>XGBoost</a:t>
                      </a:r>
                      <a:r>
                        <a:rPr lang="en-IN" sz="1800" dirty="0">
                          <a:effectLst/>
                          <a:latin typeface="Times New Roman" panose="02020603050405020304" pitchFamily="18" charset="0"/>
                          <a:cs typeface="Times New Roman" panose="02020603050405020304" pitchFamily="18" charset="0"/>
                        </a:rPr>
                        <a:t>, NumPy, Pandas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Provides classification models, boosted learning, and feature vector processing.</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3564912981"/>
                  </a:ext>
                </a:extLst>
              </a:tr>
              <a:tr h="203200">
                <a:tc>
                  <a:txBody>
                    <a:bodyPr/>
                    <a:lstStyle/>
                    <a:p>
                      <a:pPr algn="ctr">
                        <a:buNone/>
                      </a:pPr>
                      <a:r>
                        <a:rPr lang="en-IN" sz="1800">
                          <a:effectLst/>
                          <a:latin typeface="Times New Roman" panose="02020603050405020304" pitchFamily="18" charset="0"/>
                          <a:cs typeface="Times New Roman" panose="02020603050405020304" pitchFamily="18" charset="0"/>
                        </a:rPr>
                        <a:t>Code Analysis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a:effectLst/>
                          <a:latin typeface="Times New Roman" panose="02020603050405020304" pitchFamily="18" charset="0"/>
                          <a:cs typeface="Times New Roman" panose="02020603050405020304" pitchFamily="18" charset="0"/>
                        </a:rPr>
                        <a:t>Pylint, Javac</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Detects Python code issues (docstrings, imports, style) and Java syntax/dependency errors.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2307950396"/>
                  </a:ext>
                </a:extLst>
              </a:tr>
              <a:tr h="203200">
                <a:tc>
                  <a:txBody>
                    <a:bodyPr/>
                    <a:lstStyle/>
                    <a:p>
                      <a:pPr algn="ctr">
                        <a:buNone/>
                      </a:pPr>
                      <a:r>
                        <a:rPr lang="en-IN" sz="1800">
                          <a:effectLst/>
                          <a:latin typeface="Times New Roman" panose="02020603050405020304" pitchFamily="18" charset="0"/>
                          <a:cs typeface="Times New Roman" panose="02020603050405020304" pitchFamily="18" charset="0"/>
                        </a:rPr>
                        <a:t>Authentication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a:effectLst/>
                          <a:latin typeface="Times New Roman" panose="02020603050405020304" pitchFamily="18" charset="0"/>
                          <a:cs typeface="Times New Roman" panose="02020603050405020304" pitchFamily="18" charset="0"/>
                        </a:rPr>
                        <a:t>Email OTP (SMTP), GitHub OAuth 2.0</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Verifies users via OTP; OAuth allows single-click login and auto-fetches repository data.</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3542741896"/>
                  </a:ext>
                </a:extLst>
              </a:tr>
              <a:tr h="203200">
                <a:tc>
                  <a:txBody>
                    <a:bodyPr/>
                    <a:lstStyle/>
                    <a:p>
                      <a:pPr algn="ctr">
                        <a:buNone/>
                      </a:pPr>
                      <a:r>
                        <a:rPr lang="en-IN" sz="1800">
                          <a:effectLst/>
                          <a:latin typeface="Times New Roman" panose="02020603050405020304" pitchFamily="18" charset="0"/>
                          <a:cs typeface="Times New Roman" panose="02020603050405020304" pitchFamily="18" charset="0"/>
                        </a:rPr>
                        <a:t>External API</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a:effectLst/>
                          <a:latin typeface="Times New Roman" panose="02020603050405020304" pitchFamily="18" charset="0"/>
                          <a:cs typeface="Times New Roman" panose="02020603050405020304" pitchFamily="18" charset="0"/>
                        </a:rPr>
                        <a:t>GitHub REST API</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Fetches live stars, forks, issues, commits, and contributor data at request time.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3931492529"/>
                  </a:ext>
                </a:extLst>
              </a:tr>
              <a:tr h="203200">
                <a:tc>
                  <a:txBody>
                    <a:bodyPr/>
                    <a:lstStyle/>
                    <a:p>
                      <a:pPr algn="ctr">
                        <a:buNone/>
                      </a:pPr>
                      <a:r>
                        <a:rPr lang="en-IN" sz="1800">
                          <a:effectLst/>
                          <a:latin typeface="Times New Roman" panose="02020603050405020304" pitchFamily="18" charset="0"/>
                          <a:cs typeface="Times New Roman" panose="02020603050405020304" pitchFamily="18" charset="0"/>
                        </a:rPr>
                        <a:t>Dev Environment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a:effectLst/>
                          <a:latin typeface="Times New Roman" panose="02020603050405020304" pitchFamily="18" charset="0"/>
                          <a:cs typeface="Times New Roman" panose="02020603050405020304" pitchFamily="18" charset="0"/>
                        </a:rPr>
                        <a:t>Visual Studio Code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Used for development and debugging of both frontend and backend servers.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278040929"/>
                  </a:ext>
                </a:extLst>
              </a:tr>
              <a:tr h="203200">
                <a:tc>
                  <a:txBody>
                    <a:bodyPr/>
                    <a:lstStyle/>
                    <a:p>
                      <a:pPr algn="ctr">
                        <a:buNone/>
                      </a:pPr>
                      <a:r>
                        <a:rPr lang="en-IN" sz="1800">
                          <a:effectLst/>
                          <a:latin typeface="Times New Roman" panose="02020603050405020304" pitchFamily="18" charset="0"/>
                          <a:cs typeface="Times New Roman" panose="02020603050405020304" pitchFamily="18" charset="0"/>
                        </a:rPr>
                        <a:t>OS Support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Windows 10/11, macOS, Ubuntu 20.04+</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tc>
                  <a:txBody>
                    <a:bodyPr/>
                    <a:lstStyle/>
                    <a:p>
                      <a:pPr>
                        <a:buNone/>
                      </a:pPr>
                      <a:r>
                        <a:rPr lang="en-IN" sz="1800" dirty="0">
                          <a:effectLst/>
                          <a:latin typeface="Times New Roman" panose="02020603050405020304" pitchFamily="18" charset="0"/>
                          <a:cs typeface="Times New Roman" panose="02020603050405020304" pitchFamily="18" charset="0"/>
                        </a:rPr>
                        <a:t>Runs on any OS supporting Python 3.9+, Node.js 16+, and MongoDB.</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38100" marB="38100" anchor="ctr"/>
                </a:tc>
                <a:extLst>
                  <a:ext uri="{0D108BD9-81ED-4DB2-BD59-A6C34878D82A}">
                    <a16:rowId xmlns:a16="http://schemas.microsoft.com/office/drawing/2014/main" val="3762328407"/>
                  </a:ext>
                </a:extLst>
              </a:tr>
            </a:tbl>
          </a:graphicData>
        </a:graphic>
      </p:graphicFrame>
    </p:spTree>
    <p:extLst>
      <p:ext uri="{BB962C8B-B14F-4D97-AF65-F5344CB8AC3E}">
        <p14:creationId xmlns:p14="http://schemas.microsoft.com/office/powerpoint/2010/main" val="1214554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00ACCC-F30B-7992-360E-7143DCAB605C}"/>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77312B7B-DCF6-3907-23E2-05792730BC8E}"/>
              </a:ext>
            </a:extLst>
          </p:cNvPr>
          <p:cNvSpPr>
            <a:spLocks noGrp="1"/>
          </p:cNvSpPr>
          <p:nvPr>
            <p:ph type="sldNum" sz="quarter" idx="12"/>
          </p:nvPr>
        </p:nvSpPr>
        <p:spPr/>
        <p:txBody>
          <a:bodyPr/>
          <a:lstStyle/>
          <a:p>
            <a:fld id="{B6F15528-21DE-4FAA-801E-634DDDAF4B2B}" type="slidenum">
              <a:rPr lang="en-US" smtClean="0"/>
              <a:pPr/>
              <a:t>11</a:t>
            </a:fld>
            <a:endParaRPr lang="en-US"/>
          </a:p>
        </p:txBody>
      </p:sp>
      <p:pic>
        <p:nvPicPr>
          <p:cNvPr id="5" name="Picture 4">
            <a:extLst>
              <a:ext uri="{FF2B5EF4-FFF2-40B4-BE49-F238E27FC236}">
                <a16:creationId xmlns:a16="http://schemas.microsoft.com/office/drawing/2014/main" id="{48E68E7E-FE2E-8BCF-1EC7-A68479450696}"/>
              </a:ext>
            </a:extLst>
          </p:cNvPr>
          <p:cNvPicPr>
            <a:picLocks noChangeAspect="1"/>
          </p:cNvPicPr>
          <p:nvPr/>
        </p:nvPicPr>
        <p:blipFill>
          <a:blip r:embed="rId2"/>
          <a:srcRect l="7669" t="2587" r="16278"/>
          <a:stretch>
            <a:fillRect/>
          </a:stretch>
        </p:blipFill>
        <p:spPr>
          <a:xfrm>
            <a:off x="2185987" y="646331"/>
            <a:ext cx="6400800" cy="3962800"/>
          </a:xfrm>
          <a:prstGeom prst="rect">
            <a:avLst/>
          </a:prstGeom>
        </p:spPr>
      </p:pic>
      <p:sp>
        <p:nvSpPr>
          <p:cNvPr id="6" name="TextBox 5">
            <a:extLst>
              <a:ext uri="{FF2B5EF4-FFF2-40B4-BE49-F238E27FC236}">
                <a16:creationId xmlns:a16="http://schemas.microsoft.com/office/drawing/2014/main" id="{27D9FD52-DC97-0FCD-8C6F-CAA96FE3370A}"/>
              </a:ext>
            </a:extLst>
          </p:cNvPr>
          <p:cNvSpPr txBox="1"/>
          <p:nvPr/>
        </p:nvSpPr>
        <p:spPr>
          <a:xfrm>
            <a:off x="2864498" y="0"/>
            <a:ext cx="5309616" cy="646331"/>
          </a:xfrm>
          <a:prstGeom prst="rect">
            <a:avLst/>
          </a:prstGeom>
          <a:noFill/>
        </p:spPr>
        <p:txBody>
          <a:bodyPr wrap="square">
            <a:spAutoFit/>
          </a:bodyPr>
          <a:lstStyle/>
          <a:p>
            <a:pPr algn="ctr" rtl="0">
              <a:buNone/>
            </a:pPr>
            <a:r>
              <a:rPr lang="en-US" sz="3600" b="1" dirty="0">
                <a:solidFill>
                  <a:srgbClr val="FF0000"/>
                </a:solidFill>
                <a:latin typeface="Times New Roman" panose="02020603050405020304" pitchFamily="18" charset="0"/>
                <a:cs typeface="Times New Roman" panose="02020603050405020304" pitchFamily="18" charset="0"/>
              </a:rPr>
              <a:t>Use Case</a:t>
            </a:r>
            <a:r>
              <a:rPr lang="en-US" sz="3600" b="1" dirty="0">
                <a:solidFill>
                  <a:srgbClr val="FF0000"/>
                </a:solidFill>
                <a:effectLst/>
                <a:latin typeface="Times New Roman" panose="02020603050405020304" pitchFamily="18" charset="0"/>
                <a:cs typeface="Times New Roman" panose="02020603050405020304" pitchFamily="18" charset="0"/>
              </a:rPr>
              <a:t> Diagram</a:t>
            </a:r>
            <a:endParaRPr lang="en-IN" sz="3600" b="0" dirty="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3AEE28D-2506-68F8-230E-9F799E6B2D76}"/>
              </a:ext>
            </a:extLst>
          </p:cNvPr>
          <p:cNvSpPr txBox="1"/>
          <p:nvPr/>
        </p:nvSpPr>
        <p:spPr>
          <a:xfrm>
            <a:off x="814387" y="4344987"/>
            <a:ext cx="9409838" cy="3216714"/>
          </a:xfrm>
          <a:prstGeom prst="rect">
            <a:avLst/>
          </a:prstGeom>
          <a:noFill/>
        </p:spPr>
        <p:txBody>
          <a:bodyPr wrap="square" rtlCol="0">
            <a:spAutoFit/>
          </a:bodyPr>
          <a:lstStyle/>
          <a:p>
            <a:pPr algn="ctr">
              <a:lnSpc>
                <a:spcPct val="150000"/>
              </a:lnSpc>
            </a:pPr>
            <a:r>
              <a:rPr lang="en-US" b="1" dirty="0">
                <a:latin typeface="Times New Roman" panose="02020603050405020304" pitchFamily="18" charset="0"/>
                <a:cs typeface="Times New Roman" panose="02020603050405020304" pitchFamily="18" charset="0"/>
              </a:rPr>
              <a:t>Fig 1: Use Case Diagram</a:t>
            </a:r>
          </a:p>
          <a:p>
            <a:pPr algn="just">
              <a:lnSpc>
                <a:spcPct val="150000"/>
              </a:lnSpc>
            </a:pPr>
            <a:r>
              <a:rPr lang="en-US" sz="2400" dirty="0">
                <a:latin typeface="Times New Roman" panose="02020603050405020304" pitchFamily="18" charset="0"/>
                <a:cs typeface="Times New Roman" panose="02020603050405020304" pitchFamily="18" charset="0"/>
              </a:rPr>
              <a:t>The Fig 1 use case diagram represents the interaction between users and the </a:t>
            </a:r>
            <a:r>
              <a:rPr lang="en-US" sz="2400" dirty="0" err="1">
                <a:latin typeface="Times New Roman" panose="02020603050405020304" pitchFamily="18" charset="0"/>
                <a:cs typeface="Times New Roman" panose="02020603050405020304" pitchFamily="18" charset="0"/>
              </a:rPr>
              <a:t>GitScope</a:t>
            </a:r>
            <a:r>
              <a:rPr lang="en-US" sz="2400" dirty="0">
                <a:latin typeface="Times New Roman" panose="02020603050405020304" pitchFamily="18" charset="0"/>
                <a:cs typeface="Times New Roman" panose="02020603050405020304" pitchFamily="18" charset="0"/>
              </a:rPr>
              <a:t> AI system. Users can log in, upload code or provide a repository URL, view analysis results, and explore bounty opportunities. It shows how the system processes user inputs to deliver insights on code quality, popularity, and bug risk.</a:t>
            </a:r>
            <a:r>
              <a:rPr lang="en-US" dirty="0"/>
              <a:t> </a:t>
            </a:r>
            <a:endParaRPr lang="en-IN" dirty="0"/>
          </a:p>
        </p:txBody>
      </p:sp>
    </p:spTree>
    <p:extLst>
      <p:ext uri="{BB962C8B-B14F-4D97-AF65-F5344CB8AC3E}">
        <p14:creationId xmlns:p14="http://schemas.microsoft.com/office/powerpoint/2010/main" val="3360288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F30116-606D-97E6-83E8-FDC0E206D0E6}"/>
              </a:ext>
            </a:extLst>
          </p:cNvPr>
          <p:cNvSpPr>
            <a:spLocks noGrp="1"/>
          </p:cNvSpPr>
          <p:nvPr>
            <p:ph type="dt" sz="half" idx="10"/>
          </p:nvPr>
        </p:nvSpPr>
        <p:spPr/>
        <p:txBody>
          <a:bodyPr/>
          <a:lstStyle/>
          <a:p>
            <a:fld id="{073B92C4-D010-47BC-A862-1BE01E9E37BB}" type="datetime1">
              <a:rPr lang="en-US" smtClean="0"/>
              <a:t>4/23/2026</a:t>
            </a:fld>
            <a:endParaRPr lang="en-US" dirty="0"/>
          </a:p>
        </p:txBody>
      </p:sp>
      <p:sp>
        <p:nvSpPr>
          <p:cNvPr id="3" name="Slide Number Placeholder 2">
            <a:extLst>
              <a:ext uri="{FF2B5EF4-FFF2-40B4-BE49-F238E27FC236}">
                <a16:creationId xmlns:a16="http://schemas.microsoft.com/office/drawing/2014/main" id="{2630AAA8-1B0E-6219-4D5B-95B9AEDC678E}"/>
              </a:ext>
            </a:extLst>
          </p:cNvPr>
          <p:cNvSpPr>
            <a:spLocks noGrp="1"/>
          </p:cNvSpPr>
          <p:nvPr>
            <p:ph type="sldNum" sz="quarter" idx="12"/>
          </p:nvPr>
        </p:nvSpPr>
        <p:spPr/>
        <p:txBody>
          <a:bodyPr/>
          <a:lstStyle/>
          <a:p>
            <a:fld id="{B6F15528-21DE-4FAA-801E-634DDDAF4B2B}" type="slidenum">
              <a:rPr lang="en-US" smtClean="0"/>
              <a:pPr/>
              <a:t>12</a:t>
            </a:fld>
            <a:endParaRPr lang="en-US"/>
          </a:p>
        </p:txBody>
      </p:sp>
      <p:pic>
        <p:nvPicPr>
          <p:cNvPr id="4" name="Picture 3">
            <a:extLst>
              <a:ext uri="{FF2B5EF4-FFF2-40B4-BE49-F238E27FC236}">
                <a16:creationId xmlns:a16="http://schemas.microsoft.com/office/drawing/2014/main" id="{B5DBEDF6-349E-2CD8-BBE7-D8D7EB8B99E3}"/>
              </a:ext>
            </a:extLst>
          </p:cNvPr>
          <p:cNvPicPr>
            <a:picLocks noChangeAspect="1"/>
          </p:cNvPicPr>
          <p:nvPr/>
        </p:nvPicPr>
        <p:blipFill>
          <a:blip r:embed="rId2" cstate="print">
            <a:extLst>
              <a:ext uri="{28A0092B-C50C-407E-A947-70E740481C1C}">
                <a14:useLocalDpi xmlns:a14="http://schemas.microsoft.com/office/drawing/2010/main" val="0"/>
              </a:ext>
            </a:extLst>
          </a:blip>
          <a:srcRect l="10822" r="10173"/>
          <a:stretch>
            <a:fillRect/>
          </a:stretch>
        </p:blipFill>
        <p:spPr bwMode="auto">
          <a:xfrm>
            <a:off x="161382" y="922765"/>
            <a:ext cx="5758405" cy="5280159"/>
          </a:xfrm>
          <a:prstGeom prst="rect">
            <a:avLst/>
          </a:prstGeom>
          <a:noFill/>
        </p:spPr>
      </p:pic>
      <p:sp>
        <p:nvSpPr>
          <p:cNvPr id="5" name="TextBox 4">
            <a:extLst>
              <a:ext uri="{FF2B5EF4-FFF2-40B4-BE49-F238E27FC236}">
                <a16:creationId xmlns:a16="http://schemas.microsoft.com/office/drawing/2014/main" id="{4FBACFC4-0C07-1FEE-C844-C1F91BEEEA4A}"/>
              </a:ext>
            </a:extLst>
          </p:cNvPr>
          <p:cNvSpPr txBox="1"/>
          <p:nvPr/>
        </p:nvSpPr>
        <p:spPr>
          <a:xfrm>
            <a:off x="2655379" y="0"/>
            <a:ext cx="5309616" cy="646331"/>
          </a:xfrm>
          <a:prstGeom prst="rect">
            <a:avLst/>
          </a:prstGeom>
          <a:noFill/>
        </p:spPr>
        <p:txBody>
          <a:bodyPr wrap="square">
            <a:spAutoFit/>
          </a:bodyPr>
          <a:lstStyle/>
          <a:p>
            <a:pPr algn="ctr" rtl="0">
              <a:buNone/>
            </a:pPr>
            <a:r>
              <a:rPr lang="en-US" sz="3600" b="1" dirty="0">
                <a:solidFill>
                  <a:srgbClr val="FF0000"/>
                </a:solidFill>
                <a:effectLst/>
                <a:latin typeface="Times New Roman" panose="02020603050405020304" pitchFamily="18" charset="0"/>
                <a:cs typeface="Times New Roman" panose="02020603050405020304" pitchFamily="18" charset="0"/>
              </a:rPr>
              <a:t>Class Diagram</a:t>
            </a:r>
            <a:endParaRPr lang="en-IN" sz="3600" b="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2D14C48-D4CB-DEFC-25B5-BA2D02C31CB3}"/>
              </a:ext>
            </a:extLst>
          </p:cNvPr>
          <p:cNvSpPr txBox="1"/>
          <p:nvPr/>
        </p:nvSpPr>
        <p:spPr>
          <a:xfrm>
            <a:off x="1097484" y="6294692"/>
            <a:ext cx="38862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2: Class Diagram</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5BD4A16-0688-4099-D3D7-FC042045892B}"/>
              </a:ext>
            </a:extLst>
          </p:cNvPr>
          <p:cNvSpPr txBox="1"/>
          <p:nvPr/>
        </p:nvSpPr>
        <p:spPr>
          <a:xfrm>
            <a:off x="5928337" y="626460"/>
            <a:ext cx="4530656" cy="6673943"/>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2 represents the structure of the </a:t>
            </a:r>
            <a:r>
              <a:rPr lang="en-US" sz="2400" dirty="0" err="1">
                <a:latin typeface="Times New Roman" panose="02020603050405020304" pitchFamily="18" charset="0"/>
                <a:cs typeface="Times New Roman" panose="02020603050405020304" pitchFamily="18" charset="0"/>
              </a:rPr>
              <a:t>GitScope</a:t>
            </a:r>
            <a:r>
              <a:rPr lang="en-US" sz="2400" dirty="0">
                <a:latin typeface="Times New Roman" panose="02020603050405020304" pitchFamily="18" charset="0"/>
                <a:cs typeface="Times New Roman" panose="02020603050405020304" pitchFamily="18" charset="0"/>
              </a:rPr>
              <a:t> AI system and the relationships between its components. It includes classes like User, </a:t>
            </a:r>
            <a:r>
              <a:rPr lang="en-US" sz="2400" dirty="0" err="1">
                <a:latin typeface="Times New Roman" panose="02020603050405020304" pitchFamily="18" charset="0"/>
                <a:cs typeface="Times New Roman" panose="02020603050405020304" pitchFamily="18" charset="0"/>
              </a:rPr>
              <a:t>GitScope</a:t>
            </a:r>
            <a:r>
              <a:rPr lang="en-US" sz="2400" dirty="0">
                <a:latin typeface="Times New Roman" panose="02020603050405020304" pitchFamily="18" charset="0"/>
                <a:cs typeface="Times New Roman" panose="02020603050405020304" pitchFamily="18" charset="0"/>
              </a:rPr>
              <a:t> System, GitHub Service, ML Model, and Code Analyzer, which work together to process data and perform analysis. It shows how user inputs are handled and how different modules interact to generate predictions and results.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1197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8142F1-AFC3-B0DB-9948-82C260032E0E}"/>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FDF88C01-6897-979E-8A2B-928C5D9534ED}"/>
              </a:ext>
            </a:extLst>
          </p:cNvPr>
          <p:cNvSpPr>
            <a:spLocks noGrp="1"/>
          </p:cNvSpPr>
          <p:nvPr>
            <p:ph type="sldNum" sz="quarter" idx="12"/>
          </p:nvPr>
        </p:nvSpPr>
        <p:spPr/>
        <p:txBody>
          <a:bodyPr/>
          <a:lstStyle/>
          <a:p>
            <a:fld id="{B6F15528-21DE-4FAA-801E-634DDDAF4B2B}" type="slidenum">
              <a:rPr lang="en-US" smtClean="0"/>
              <a:pPr/>
              <a:t>13</a:t>
            </a:fld>
            <a:endParaRPr lang="en-US"/>
          </a:p>
        </p:txBody>
      </p:sp>
      <p:pic>
        <p:nvPicPr>
          <p:cNvPr id="4" name="Picture 3">
            <a:extLst>
              <a:ext uri="{FF2B5EF4-FFF2-40B4-BE49-F238E27FC236}">
                <a16:creationId xmlns:a16="http://schemas.microsoft.com/office/drawing/2014/main" id="{193743EE-AF0A-36B1-E42C-B1F57D332C6C}"/>
              </a:ext>
            </a:extLst>
          </p:cNvPr>
          <p:cNvPicPr>
            <a:picLocks noChangeAspect="1"/>
          </p:cNvPicPr>
          <p:nvPr/>
        </p:nvPicPr>
        <p:blipFill>
          <a:blip r:embed="rId2">
            <a:extLst>
              <a:ext uri="{28A0092B-C50C-407E-A947-70E740481C1C}">
                <a14:useLocalDpi xmlns:a14="http://schemas.microsoft.com/office/drawing/2010/main" val="0"/>
              </a:ext>
            </a:extLst>
          </a:blip>
          <a:srcRect l="12871" t="2307" r="13762" b="9275"/>
          <a:stretch>
            <a:fillRect/>
          </a:stretch>
        </p:blipFill>
        <p:spPr bwMode="auto">
          <a:xfrm>
            <a:off x="515737" y="582944"/>
            <a:ext cx="5309615" cy="6359357"/>
          </a:xfrm>
          <a:prstGeom prst="rect">
            <a:avLst/>
          </a:prstGeom>
          <a:noFill/>
        </p:spPr>
      </p:pic>
      <p:sp>
        <p:nvSpPr>
          <p:cNvPr id="5" name="TextBox 4">
            <a:extLst>
              <a:ext uri="{FF2B5EF4-FFF2-40B4-BE49-F238E27FC236}">
                <a16:creationId xmlns:a16="http://schemas.microsoft.com/office/drawing/2014/main" id="{50C2631A-6C29-6DDA-D5D9-81211F298336}"/>
              </a:ext>
            </a:extLst>
          </p:cNvPr>
          <p:cNvSpPr txBox="1"/>
          <p:nvPr/>
        </p:nvSpPr>
        <p:spPr>
          <a:xfrm>
            <a:off x="2655379" y="85193"/>
            <a:ext cx="5309616" cy="646331"/>
          </a:xfrm>
          <a:prstGeom prst="rect">
            <a:avLst/>
          </a:prstGeom>
          <a:noFill/>
        </p:spPr>
        <p:txBody>
          <a:bodyPr wrap="square">
            <a:spAutoFit/>
          </a:bodyPr>
          <a:lstStyle/>
          <a:p>
            <a:pPr algn="ctr" rtl="0">
              <a:buNone/>
            </a:pPr>
            <a:r>
              <a:rPr lang="en-US" sz="3600" b="1" dirty="0">
                <a:solidFill>
                  <a:srgbClr val="FF0000"/>
                </a:solidFill>
                <a:latin typeface="Times New Roman" panose="02020603050405020304" pitchFamily="18" charset="0"/>
                <a:cs typeface="Times New Roman" panose="02020603050405020304" pitchFamily="18" charset="0"/>
              </a:rPr>
              <a:t>Sequence</a:t>
            </a:r>
            <a:r>
              <a:rPr lang="en-US" sz="3600" b="1" dirty="0">
                <a:solidFill>
                  <a:srgbClr val="FF0000"/>
                </a:solidFill>
                <a:effectLst/>
                <a:latin typeface="Times New Roman" panose="02020603050405020304" pitchFamily="18" charset="0"/>
                <a:cs typeface="Times New Roman" panose="02020603050405020304" pitchFamily="18" charset="0"/>
              </a:rPr>
              <a:t> Diagram</a:t>
            </a:r>
            <a:endParaRPr lang="en-IN" sz="3600" b="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0820C54-3121-F6F4-99F0-C92A483B758B}"/>
              </a:ext>
            </a:extLst>
          </p:cNvPr>
          <p:cNvSpPr txBox="1"/>
          <p:nvPr/>
        </p:nvSpPr>
        <p:spPr>
          <a:xfrm>
            <a:off x="1227444" y="6931071"/>
            <a:ext cx="38862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3: Sequence Diagram</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7513778-6682-1714-5162-295CB207C4B9}"/>
              </a:ext>
            </a:extLst>
          </p:cNvPr>
          <p:cNvSpPr txBox="1"/>
          <p:nvPr/>
        </p:nvSpPr>
        <p:spPr>
          <a:xfrm>
            <a:off x="5825352" y="839787"/>
            <a:ext cx="4514035" cy="6119945"/>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3 shows the step-by-step flow of interaction between the user, frontend, backend, and GitHub API. The user enters a repository URL, the frontend sends the request to the backend, which fetches data from the GitHub API and processes it using the machine learning model. Finally, the results are sent back and displayed to the user.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064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63CCB1-0EEB-3F10-FEB4-0CEF34D26245}"/>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9854FC51-2235-A19A-35AF-27521EE3E786}"/>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5" name="TextBox 4">
            <a:extLst>
              <a:ext uri="{FF2B5EF4-FFF2-40B4-BE49-F238E27FC236}">
                <a16:creationId xmlns:a16="http://schemas.microsoft.com/office/drawing/2014/main" id="{7D6B101F-3F26-1C19-7A78-39895FD5781C}"/>
              </a:ext>
            </a:extLst>
          </p:cNvPr>
          <p:cNvSpPr txBox="1"/>
          <p:nvPr/>
        </p:nvSpPr>
        <p:spPr>
          <a:xfrm>
            <a:off x="890587" y="93707"/>
            <a:ext cx="8991600" cy="646331"/>
          </a:xfrm>
          <a:prstGeom prst="rect">
            <a:avLst/>
          </a:prstGeom>
          <a:noFill/>
        </p:spPr>
        <p:txBody>
          <a:bodyPr wrap="square" rtlCol="0">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Results and Discussion </a:t>
            </a:r>
            <a:endParaRPr lang="en-IN" sz="3600" b="1" dirty="0">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A4F6751-4E6A-046E-2623-B811187E1DC8}"/>
              </a:ext>
            </a:extLst>
          </p:cNvPr>
          <p:cNvPicPr>
            <a:picLocks noChangeAspect="1"/>
          </p:cNvPicPr>
          <p:nvPr/>
        </p:nvPicPr>
        <p:blipFill>
          <a:blip r:embed="rId2">
            <a:extLst>
              <a:ext uri="{28A0092B-C50C-407E-A947-70E740481C1C}">
                <a14:useLocalDpi xmlns:a14="http://schemas.microsoft.com/office/drawing/2010/main" val="0"/>
              </a:ext>
            </a:extLst>
          </a:blip>
          <a:srcRect l="3200" r="8259"/>
          <a:stretch>
            <a:fillRect/>
          </a:stretch>
        </p:blipFill>
        <p:spPr>
          <a:xfrm>
            <a:off x="218146" y="1754187"/>
            <a:ext cx="5181600" cy="4389129"/>
          </a:xfrm>
          <a:prstGeom prst="rect">
            <a:avLst/>
          </a:prstGeom>
        </p:spPr>
      </p:pic>
      <p:sp>
        <p:nvSpPr>
          <p:cNvPr id="9" name="TextBox 8">
            <a:extLst>
              <a:ext uri="{FF2B5EF4-FFF2-40B4-BE49-F238E27FC236}">
                <a16:creationId xmlns:a16="http://schemas.microsoft.com/office/drawing/2014/main" id="{E04A51F8-EC14-68FC-7848-D08C7AA316A1}"/>
              </a:ext>
            </a:extLst>
          </p:cNvPr>
          <p:cNvSpPr txBox="1"/>
          <p:nvPr/>
        </p:nvSpPr>
        <p:spPr>
          <a:xfrm>
            <a:off x="5399746" y="1180458"/>
            <a:ext cx="5050698" cy="6119945"/>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4 shows the performance of different models for repository popularity prediction. Logistic Regression achieved the highest accuracy, followed closely by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However,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was selected as the final model because it is more robust and performs better with structured and real-world data. Other models showed slightly lower performance due to data complexity.</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E78FB49-043F-93F7-7056-ED0B941A9498}"/>
              </a:ext>
            </a:extLst>
          </p:cNvPr>
          <p:cNvSpPr txBox="1"/>
          <p:nvPr/>
        </p:nvSpPr>
        <p:spPr>
          <a:xfrm>
            <a:off x="865846" y="6111449"/>
            <a:ext cx="38862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4: Model comparison Graph</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7710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ECEDC4-F23E-192D-513A-B495F4C5B210}"/>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71A24785-E786-0AD9-1816-1460A9A5443E}"/>
              </a:ext>
            </a:extLst>
          </p:cNvPr>
          <p:cNvSpPr>
            <a:spLocks noGrp="1"/>
          </p:cNvSpPr>
          <p:nvPr>
            <p:ph type="sldNum" sz="quarter" idx="12"/>
          </p:nvPr>
        </p:nvSpPr>
        <p:spPr/>
        <p:txBody>
          <a:bodyPr/>
          <a:lstStyle/>
          <a:p>
            <a:fld id="{B6F15528-21DE-4FAA-801E-634DDDAF4B2B}" type="slidenum">
              <a:rPr lang="en-US" smtClean="0"/>
              <a:pPr/>
              <a:t>15</a:t>
            </a:fld>
            <a:endParaRPr lang="en-US"/>
          </a:p>
        </p:txBody>
      </p:sp>
      <p:pic>
        <p:nvPicPr>
          <p:cNvPr id="5" name="Picture 4">
            <a:extLst>
              <a:ext uri="{FF2B5EF4-FFF2-40B4-BE49-F238E27FC236}">
                <a16:creationId xmlns:a16="http://schemas.microsoft.com/office/drawing/2014/main" id="{C792CA1C-C2CA-182C-D5AF-4F8BE584A086}"/>
              </a:ext>
            </a:extLst>
          </p:cNvPr>
          <p:cNvPicPr>
            <a:picLocks noChangeAspect="1"/>
          </p:cNvPicPr>
          <p:nvPr/>
        </p:nvPicPr>
        <p:blipFill>
          <a:blip r:embed="rId2">
            <a:extLst>
              <a:ext uri="{28A0092B-C50C-407E-A947-70E740481C1C}">
                <a14:useLocalDpi xmlns:a14="http://schemas.microsoft.com/office/drawing/2010/main" val="0"/>
              </a:ext>
            </a:extLst>
          </a:blip>
          <a:srcRect l="3125" t="4862" r="8334"/>
          <a:stretch>
            <a:fillRect/>
          </a:stretch>
        </p:blipFill>
        <p:spPr>
          <a:xfrm>
            <a:off x="227894" y="1449387"/>
            <a:ext cx="5181600" cy="4175765"/>
          </a:xfrm>
          <a:prstGeom prst="rect">
            <a:avLst/>
          </a:prstGeom>
        </p:spPr>
      </p:pic>
      <p:sp>
        <p:nvSpPr>
          <p:cNvPr id="6" name="TextBox 5">
            <a:extLst>
              <a:ext uri="{FF2B5EF4-FFF2-40B4-BE49-F238E27FC236}">
                <a16:creationId xmlns:a16="http://schemas.microsoft.com/office/drawing/2014/main" id="{AFB9CC55-9D7A-FCAF-9541-CA5DB86DBC70}"/>
              </a:ext>
            </a:extLst>
          </p:cNvPr>
          <p:cNvSpPr txBox="1"/>
          <p:nvPr/>
        </p:nvSpPr>
        <p:spPr>
          <a:xfrm>
            <a:off x="5409494" y="687387"/>
            <a:ext cx="4982987" cy="6119945"/>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5 shows the comparison of models for bug risk prediction.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achieved the highest accuracy of 88%, making it the best-performing model. Random Forest and MLP showed moderate results, while Logistic Regression and KNN performed lower. Based on these results,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was selected as the final model due to its higher accuracy and strong predictive capability.</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2D84F60-4625-F0A4-5317-EF19150FA8BC}"/>
              </a:ext>
            </a:extLst>
          </p:cNvPr>
          <p:cNvSpPr txBox="1"/>
          <p:nvPr/>
        </p:nvSpPr>
        <p:spPr>
          <a:xfrm>
            <a:off x="1119187" y="5625152"/>
            <a:ext cx="38862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5: Model comparison Graph</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830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2F04B6-A757-0D75-C57F-D1B25EA91180}"/>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ACB612F4-18F5-94AB-562A-3F501FA26324}"/>
              </a:ext>
            </a:extLst>
          </p:cNvPr>
          <p:cNvSpPr>
            <a:spLocks noGrp="1"/>
          </p:cNvSpPr>
          <p:nvPr>
            <p:ph type="sldNum" sz="quarter" idx="12"/>
          </p:nvPr>
        </p:nvSpPr>
        <p:spPr/>
        <p:txBody>
          <a:bodyPr/>
          <a:lstStyle/>
          <a:p>
            <a:fld id="{B6F15528-21DE-4FAA-801E-634DDDAF4B2B}" type="slidenum">
              <a:rPr lang="en-US" smtClean="0"/>
              <a:pPr/>
              <a:t>16</a:t>
            </a:fld>
            <a:endParaRPr lang="en-US"/>
          </a:p>
        </p:txBody>
      </p:sp>
      <p:pic>
        <p:nvPicPr>
          <p:cNvPr id="4" name="Picture 3">
            <a:extLst>
              <a:ext uri="{FF2B5EF4-FFF2-40B4-BE49-F238E27FC236}">
                <a16:creationId xmlns:a16="http://schemas.microsoft.com/office/drawing/2014/main" id="{B28536CB-B35F-DA19-68BE-1FD4DB5B9B3A}"/>
              </a:ext>
            </a:extLst>
          </p:cNvPr>
          <p:cNvPicPr>
            <a:picLocks noChangeAspect="1"/>
          </p:cNvPicPr>
          <p:nvPr/>
        </p:nvPicPr>
        <p:blipFill>
          <a:blip r:embed="rId2"/>
          <a:stretch>
            <a:fillRect/>
          </a:stretch>
        </p:blipFill>
        <p:spPr>
          <a:xfrm>
            <a:off x="1309687" y="193414"/>
            <a:ext cx="8001000" cy="4243373"/>
          </a:xfrm>
          <a:prstGeom prst="rect">
            <a:avLst/>
          </a:prstGeom>
        </p:spPr>
      </p:pic>
      <p:sp>
        <p:nvSpPr>
          <p:cNvPr id="5" name="TextBox 4">
            <a:extLst>
              <a:ext uri="{FF2B5EF4-FFF2-40B4-BE49-F238E27FC236}">
                <a16:creationId xmlns:a16="http://schemas.microsoft.com/office/drawing/2014/main" id="{36D21ACA-4D87-C368-0242-DF2D90AD533C}"/>
              </a:ext>
            </a:extLst>
          </p:cNvPr>
          <p:cNvSpPr txBox="1"/>
          <p:nvPr/>
        </p:nvSpPr>
        <p:spPr>
          <a:xfrm>
            <a:off x="3367087" y="4436787"/>
            <a:ext cx="38862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6: Login Page</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ABBE9E6-246B-5D4D-B774-6F09E12C5B7F}"/>
              </a:ext>
            </a:extLst>
          </p:cNvPr>
          <p:cNvSpPr txBox="1"/>
          <p:nvPr/>
        </p:nvSpPr>
        <p:spPr>
          <a:xfrm>
            <a:off x="664126" y="4806119"/>
            <a:ext cx="9597619" cy="2795958"/>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6 shows the login page of the </a:t>
            </a:r>
            <a:r>
              <a:rPr lang="en-US" sz="2400" dirty="0" err="1">
                <a:latin typeface="Times New Roman" panose="02020603050405020304" pitchFamily="18" charset="0"/>
                <a:cs typeface="Times New Roman" panose="02020603050405020304" pitchFamily="18" charset="0"/>
              </a:rPr>
              <a:t>GitScope</a:t>
            </a:r>
            <a:r>
              <a:rPr lang="en-US" sz="2400" dirty="0">
                <a:latin typeface="Times New Roman" panose="02020603050405020304" pitchFamily="18" charset="0"/>
                <a:cs typeface="Times New Roman" panose="02020603050405020304" pitchFamily="18" charset="0"/>
              </a:rPr>
              <a:t> AI system. Users can sign in by entering their GitHub username and email, followed by OTP verification or GitHub authentication. The page also highlights key features of the system, providing a simple and secure entry point for accessing repository analysis functionalities.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591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277DE8-02A2-A8A9-723D-35C0E5CB3C12}"/>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BA8E6554-A413-6155-6071-F3E78E554BCC}"/>
              </a:ext>
            </a:extLst>
          </p:cNvPr>
          <p:cNvSpPr>
            <a:spLocks noGrp="1"/>
          </p:cNvSpPr>
          <p:nvPr>
            <p:ph type="sldNum" sz="quarter" idx="12"/>
          </p:nvPr>
        </p:nvSpPr>
        <p:spPr/>
        <p:txBody>
          <a:bodyPr/>
          <a:lstStyle/>
          <a:p>
            <a:fld id="{B6F15528-21DE-4FAA-801E-634DDDAF4B2B}" type="slidenum">
              <a:rPr lang="en-US" smtClean="0"/>
              <a:pPr/>
              <a:t>17</a:t>
            </a:fld>
            <a:endParaRPr lang="en-US"/>
          </a:p>
        </p:txBody>
      </p:sp>
      <p:pic>
        <p:nvPicPr>
          <p:cNvPr id="4" name="Picture 3">
            <a:extLst>
              <a:ext uri="{FF2B5EF4-FFF2-40B4-BE49-F238E27FC236}">
                <a16:creationId xmlns:a16="http://schemas.microsoft.com/office/drawing/2014/main" id="{C3985BF7-0D02-22FA-6A77-7D6D859ACB90}"/>
              </a:ext>
            </a:extLst>
          </p:cNvPr>
          <p:cNvPicPr>
            <a:picLocks noChangeAspect="1"/>
          </p:cNvPicPr>
          <p:nvPr/>
        </p:nvPicPr>
        <p:blipFill>
          <a:blip r:embed="rId2"/>
          <a:stretch>
            <a:fillRect/>
          </a:stretch>
        </p:blipFill>
        <p:spPr>
          <a:xfrm>
            <a:off x="1450048" y="215988"/>
            <a:ext cx="7720278" cy="4121955"/>
          </a:xfrm>
          <a:prstGeom prst="rect">
            <a:avLst/>
          </a:prstGeom>
        </p:spPr>
      </p:pic>
      <p:sp>
        <p:nvSpPr>
          <p:cNvPr id="5" name="TextBox 4">
            <a:extLst>
              <a:ext uri="{FF2B5EF4-FFF2-40B4-BE49-F238E27FC236}">
                <a16:creationId xmlns:a16="http://schemas.microsoft.com/office/drawing/2014/main" id="{B8074AA0-C21E-BFD9-24B6-B81A6102620E}"/>
              </a:ext>
            </a:extLst>
          </p:cNvPr>
          <p:cNvSpPr txBox="1"/>
          <p:nvPr/>
        </p:nvSpPr>
        <p:spPr>
          <a:xfrm>
            <a:off x="3367087" y="4416328"/>
            <a:ext cx="38862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7: Main Dashboard </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D6E68DC-0814-0BF5-32E5-B7EF01045DA8}"/>
              </a:ext>
            </a:extLst>
          </p:cNvPr>
          <p:cNvSpPr txBox="1"/>
          <p:nvPr/>
        </p:nvSpPr>
        <p:spPr>
          <a:xfrm>
            <a:off x="700949" y="4613732"/>
            <a:ext cx="9600338" cy="2795958"/>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7 shows the main dashboard of the </a:t>
            </a:r>
            <a:r>
              <a:rPr lang="en-US" sz="2400" dirty="0" err="1">
                <a:latin typeface="Times New Roman" panose="02020603050405020304" pitchFamily="18" charset="0"/>
                <a:cs typeface="Times New Roman" panose="02020603050405020304" pitchFamily="18" charset="0"/>
              </a:rPr>
              <a:t>GitScope</a:t>
            </a:r>
            <a:r>
              <a:rPr lang="en-US" sz="2400" dirty="0">
                <a:latin typeface="Times New Roman" panose="02020603050405020304" pitchFamily="18" charset="0"/>
                <a:cs typeface="Times New Roman" panose="02020603050405020304" pitchFamily="18" charset="0"/>
              </a:rPr>
              <a:t> AI system. It provides quick access to key modules such as code quality analysis, popularity prediction, bug risk detection, and bounty exploration. The dashboard also displays user repository details and activity, making it easy to navigate and perform different analyses from a single interface.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8486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1D2DF7-1481-6E98-ACCC-0BB3CCFCFB89}"/>
              </a:ext>
            </a:extLst>
          </p:cNvPr>
          <p:cNvSpPr>
            <a:spLocks noGrp="1"/>
          </p:cNvSpPr>
          <p:nvPr>
            <p:ph type="dt" sz="half" idx="10"/>
          </p:nvPr>
        </p:nvSpPr>
        <p:spPr/>
        <p:txBody>
          <a:bodyPr/>
          <a:lstStyle/>
          <a:p>
            <a:fld id="{073B92C4-D010-47BC-A862-1BE01E9E37BB}" type="datetime1">
              <a:rPr lang="en-US" smtClean="0"/>
              <a:t>4/23/2026</a:t>
            </a:fld>
            <a:endParaRPr lang="en-US" dirty="0"/>
          </a:p>
        </p:txBody>
      </p:sp>
      <p:sp>
        <p:nvSpPr>
          <p:cNvPr id="3" name="Slide Number Placeholder 2">
            <a:extLst>
              <a:ext uri="{FF2B5EF4-FFF2-40B4-BE49-F238E27FC236}">
                <a16:creationId xmlns:a16="http://schemas.microsoft.com/office/drawing/2014/main" id="{8487D43E-B779-961F-B3F8-3CA3C22AFAFE}"/>
              </a:ext>
            </a:extLst>
          </p:cNvPr>
          <p:cNvSpPr>
            <a:spLocks noGrp="1"/>
          </p:cNvSpPr>
          <p:nvPr>
            <p:ph type="sldNum" sz="quarter" idx="12"/>
          </p:nvPr>
        </p:nvSpPr>
        <p:spPr/>
        <p:txBody>
          <a:bodyPr/>
          <a:lstStyle/>
          <a:p>
            <a:fld id="{B6F15528-21DE-4FAA-801E-634DDDAF4B2B}" type="slidenum">
              <a:rPr lang="en-US" smtClean="0"/>
              <a:pPr/>
              <a:t>18</a:t>
            </a:fld>
            <a:endParaRPr lang="en-US"/>
          </a:p>
        </p:txBody>
      </p:sp>
      <p:pic>
        <p:nvPicPr>
          <p:cNvPr id="4" name="Picture 3">
            <a:extLst>
              <a:ext uri="{FF2B5EF4-FFF2-40B4-BE49-F238E27FC236}">
                <a16:creationId xmlns:a16="http://schemas.microsoft.com/office/drawing/2014/main" id="{5870301D-E84E-07E9-1B65-F3CDAB9EE9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0949" y="147874"/>
            <a:ext cx="4974043" cy="7141728"/>
          </a:xfrm>
          <a:prstGeom prst="rect">
            <a:avLst/>
          </a:prstGeom>
        </p:spPr>
      </p:pic>
      <p:sp>
        <p:nvSpPr>
          <p:cNvPr id="5" name="TextBox 4">
            <a:extLst>
              <a:ext uri="{FF2B5EF4-FFF2-40B4-BE49-F238E27FC236}">
                <a16:creationId xmlns:a16="http://schemas.microsoft.com/office/drawing/2014/main" id="{D037A08E-2B9D-E39C-E731-4716395B063D}"/>
              </a:ext>
            </a:extLst>
          </p:cNvPr>
          <p:cNvSpPr txBox="1"/>
          <p:nvPr/>
        </p:nvSpPr>
        <p:spPr>
          <a:xfrm>
            <a:off x="5843587" y="534987"/>
            <a:ext cx="4495800" cy="6119945"/>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8 analyzes the uploaded source code using static analysis techniques. It detects syntax errors, coding issues, and code quality problems using tools like </a:t>
            </a:r>
            <a:r>
              <a:rPr lang="en-US" sz="2400" dirty="0" err="1">
                <a:latin typeface="Times New Roman" panose="02020603050405020304" pitchFamily="18" charset="0"/>
                <a:cs typeface="Times New Roman" panose="02020603050405020304" pitchFamily="18" charset="0"/>
              </a:rPr>
              <a:t>Pylint</a:t>
            </a:r>
            <a:r>
              <a:rPr lang="en-US" sz="2400" dirty="0">
                <a:latin typeface="Times New Roman" panose="02020603050405020304" pitchFamily="18" charset="0"/>
                <a:cs typeface="Times New Roman" panose="02020603050405020304" pitchFamily="18" charset="0"/>
              </a:rPr>
              <a:t>. The system also provides a code quality score and detailed suggestions to improve the code. This helps developers identify issues early and maintain better coding standards.</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E416E58-9AB3-398B-79DF-02691BF1596D}"/>
              </a:ext>
            </a:extLst>
          </p:cNvPr>
          <p:cNvSpPr txBox="1"/>
          <p:nvPr/>
        </p:nvSpPr>
        <p:spPr>
          <a:xfrm>
            <a:off x="1092470" y="7258369"/>
            <a:ext cx="41910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8: Code Quality Check Module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9005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2A2114-CE87-C665-4C84-D9B3869D509F}"/>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6BC3707C-D0F1-A3B8-FE38-DAF40E0FBA53}"/>
              </a:ext>
            </a:extLst>
          </p:cNvPr>
          <p:cNvSpPr>
            <a:spLocks noGrp="1"/>
          </p:cNvSpPr>
          <p:nvPr>
            <p:ph type="sldNum" sz="quarter" idx="12"/>
          </p:nvPr>
        </p:nvSpPr>
        <p:spPr/>
        <p:txBody>
          <a:bodyPr/>
          <a:lstStyle/>
          <a:p>
            <a:fld id="{B6F15528-21DE-4FAA-801E-634DDDAF4B2B}" type="slidenum">
              <a:rPr lang="en-US" smtClean="0"/>
              <a:pPr/>
              <a:t>19</a:t>
            </a:fld>
            <a:endParaRPr lang="en-US"/>
          </a:p>
        </p:txBody>
      </p:sp>
      <p:pic>
        <p:nvPicPr>
          <p:cNvPr id="6" name="Picture 5">
            <a:extLst>
              <a:ext uri="{FF2B5EF4-FFF2-40B4-BE49-F238E27FC236}">
                <a16:creationId xmlns:a16="http://schemas.microsoft.com/office/drawing/2014/main" id="{88E36276-2DA4-1C9A-A6FB-B0EB352627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931" y="321145"/>
            <a:ext cx="5673656" cy="6719801"/>
          </a:xfrm>
          <a:prstGeom prst="rect">
            <a:avLst/>
          </a:prstGeom>
        </p:spPr>
      </p:pic>
      <p:sp>
        <p:nvSpPr>
          <p:cNvPr id="4" name="TextBox 3">
            <a:extLst>
              <a:ext uri="{FF2B5EF4-FFF2-40B4-BE49-F238E27FC236}">
                <a16:creationId xmlns:a16="http://schemas.microsoft.com/office/drawing/2014/main" id="{2529DB4C-B894-6789-9A36-491D54CFEF84}"/>
              </a:ext>
            </a:extLst>
          </p:cNvPr>
          <p:cNvSpPr txBox="1"/>
          <p:nvPr/>
        </p:nvSpPr>
        <p:spPr>
          <a:xfrm>
            <a:off x="5995987" y="458787"/>
            <a:ext cx="4302057" cy="6119945"/>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9 predicts the popularity of a GitHub repository based on metrics such as stars, forks, watchers, and issues. It generates a popularity score and visualizes growth trends over time. The model helps users understand how active and trending a repository is.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is used for prediction due to its robust performance on structured data.</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CE371D-2F63-F06F-4BC6-149E5B133637}"/>
              </a:ext>
            </a:extLst>
          </p:cNvPr>
          <p:cNvSpPr txBox="1"/>
          <p:nvPr/>
        </p:nvSpPr>
        <p:spPr>
          <a:xfrm>
            <a:off x="1063659" y="7104936"/>
            <a:ext cx="38862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9: Popularity Prediction Module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7851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60BFBF-A69A-BAAD-324F-559307339395}"/>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70335C03-B251-6F7D-AACA-5D2364BBEB1E}"/>
              </a:ext>
            </a:extLst>
          </p:cNvPr>
          <p:cNvSpPr>
            <a:spLocks noGrp="1"/>
          </p:cNvSpPr>
          <p:nvPr>
            <p:ph type="sldNum" sz="quarter" idx="12"/>
          </p:nvPr>
        </p:nvSpPr>
        <p:spPr/>
        <p:txBody>
          <a:bodyPr/>
          <a:lstStyle/>
          <a:p>
            <a:fld id="{B6F15528-21DE-4FAA-801E-634DDDAF4B2B}" type="slidenum">
              <a:rPr lang="en-US" smtClean="0"/>
              <a:pPr/>
              <a:t>20</a:t>
            </a:fld>
            <a:endParaRPr lang="en-US"/>
          </a:p>
        </p:txBody>
      </p:sp>
      <p:pic>
        <p:nvPicPr>
          <p:cNvPr id="4" name="Picture 3">
            <a:extLst>
              <a:ext uri="{FF2B5EF4-FFF2-40B4-BE49-F238E27FC236}">
                <a16:creationId xmlns:a16="http://schemas.microsoft.com/office/drawing/2014/main" id="{D777EA1D-A21E-106D-E434-DD47B6F190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5147" y="399526"/>
            <a:ext cx="5521256" cy="6825232"/>
          </a:xfrm>
          <a:prstGeom prst="rect">
            <a:avLst/>
          </a:prstGeom>
        </p:spPr>
      </p:pic>
      <p:sp>
        <p:nvSpPr>
          <p:cNvPr id="5" name="TextBox 4">
            <a:extLst>
              <a:ext uri="{FF2B5EF4-FFF2-40B4-BE49-F238E27FC236}">
                <a16:creationId xmlns:a16="http://schemas.microsoft.com/office/drawing/2014/main" id="{461CE117-A76C-449C-FA14-0A4CF6209782}"/>
              </a:ext>
            </a:extLst>
          </p:cNvPr>
          <p:cNvSpPr txBox="1"/>
          <p:nvPr/>
        </p:nvSpPr>
        <p:spPr>
          <a:xfrm>
            <a:off x="5843587" y="550815"/>
            <a:ext cx="4454457" cy="6673943"/>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10 analyzes a repository to estimate the risk of bugs using factors like issue density, activity, and commit patterns. It generates a risk score and categorizes the repository into levels such as low, medium, or high risk. The system also provides suggestions to improve repository health.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is used as the final model due to its higher accuracy and reliability.</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9A63FE5-E4BB-1D80-4B13-6AB71B32E3E9}"/>
              </a:ext>
            </a:extLst>
          </p:cNvPr>
          <p:cNvSpPr txBox="1"/>
          <p:nvPr/>
        </p:nvSpPr>
        <p:spPr>
          <a:xfrm>
            <a:off x="1002675" y="7255877"/>
            <a:ext cx="38862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10: Bug Prediction Module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0942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10BACA-039C-5086-94FE-881101D1F043}"/>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57B21D20-76B9-1AF6-A965-E291F14314C8}"/>
              </a:ext>
            </a:extLst>
          </p:cNvPr>
          <p:cNvSpPr>
            <a:spLocks noGrp="1"/>
          </p:cNvSpPr>
          <p:nvPr>
            <p:ph type="sldNum" sz="quarter" idx="12"/>
          </p:nvPr>
        </p:nvSpPr>
        <p:spPr/>
        <p:txBody>
          <a:bodyPr/>
          <a:lstStyle/>
          <a:p>
            <a:fld id="{B6F15528-21DE-4FAA-801E-634DDDAF4B2B}" type="slidenum">
              <a:rPr lang="en-US" smtClean="0"/>
              <a:pPr/>
              <a:t>21</a:t>
            </a:fld>
            <a:endParaRPr lang="en-US"/>
          </a:p>
        </p:txBody>
      </p:sp>
      <p:pic>
        <p:nvPicPr>
          <p:cNvPr id="4" name="Picture 3">
            <a:extLst>
              <a:ext uri="{FF2B5EF4-FFF2-40B4-BE49-F238E27FC236}">
                <a16:creationId xmlns:a16="http://schemas.microsoft.com/office/drawing/2014/main" id="{2BA96981-9A1B-920C-9B24-B33120E54CEF}"/>
              </a:ext>
            </a:extLst>
          </p:cNvPr>
          <p:cNvPicPr>
            <a:picLocks noChangeAspect="1"/>
          </p:cNvPicPr>
          <p:nvPr/>
        </p:nvPicPr>
        <p:blipFill>
          <a:blip r:embed="rId2"/>
          <a:stretch>
            <a:fillRect/>
          </a:stretch>
        </p:blipFill>
        <p:spPr>
          <a:xfrm>
            <a:off x="172138" y="215986"/>
            <a:ext cx="5900049" cy="6803631"/>
          </a:xfrm>
          <a:prstGeom prst="rect">
            <a:avLst/>
          </a:prstGeom>
        </p:spPr>
      </p:pic>
      <p:sp>
        <p:nvSpPr>
          <p:cNvPr id="5" name="TextBox 4">
            <a:extLst>
              <a:ext uri="{FF2B5EF4-FFF2-40B4-BE49-F238E27FC236}">
                <a16:creationId xmlns:a16="http://schemas.microsoft.com/office/drawing/2014/main" id="{FDD89B66-EC75-EEA5-6CC3-C1AF20EA9F5F}"/>
              </a:ext>
            </a:extLst>
          </p:cNvPr>
          <p:cNvSpPr txBox="1"/>
          <p:nvPr/>
        </p:nvSpPr>
        <p:spPr>
          <a:xfrm>
            <a:off x="6219359" y="215986"/>
            <a:ext cx="4223650" cy="7227941"/>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Fig 11 identifies GitHub issues that include bounty opportunities. It helps users find tasks with rewards based on factors such as issue type, difficulty, and verification status. The system categorizes opportunities and provides direct links to GitHub issues. This supports developers in contributing to open-source projects while earning incentives.</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52273B1-A9D1-2BC7-980D-37C54B091BB0}"/>
              </a:ext>
            </a:extLst>
          </p:cNvPr>
          <p:cNvSpPr txBox="1"/>
          <p:nvPr/>
        </p:nvSpPr>
        <p:spPr>
          <a:xfrm>
            <a:off x="1179062" y="7072542"/>
            <a:ext cx="38862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 11: Bounty Finder Module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9659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20943C-21FC-AC9F-132F-377FD6C6229E}"/>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4E0BACDD-55D0-66AD-F541-D4AC1E4544C8}"/>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4" name="TextBox 3">
            <a:extLst>
              <a:ext uri="{FF2B5EF4-FFF2-40B4-BE49-F238E27FC236}">
                <a16:creationId xmlns:a16="http://schemas.microsoft.com/office/drawing/2014/main" id="{F94C6404-2564-0B93-AD54-C888D9182420}"/>
              </a:ext>
            </a:extLst>
          </p:cNvPr>
          <p:cNvSpPr txBox="1"/>
          <p:nvPr/>
        </p:nvSpPr>
        <p:spPr>
          <a:xfrm>
            <a:off x="1804987" y="230187"/>
            <a:ext cx="6934200" cy="646331"/>
          </a:xfrm>
          <a:prstGeom prst="rect">
            <a:avLst/>
          </a:prstGeom>
          <a:noFill/>
        </p:spPr>
        <p:txBody>
          <a:bodyPr wrap="square" rtlCol="0">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CONCLUSION </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6C812D8-B91B-4BE2-7677-2DDEC3C9B7A2}"/>
              </a:ext>
            </a:extLst>
          </p:cNvPr>
          <p:cNvSpPr txBox="1"/>
          <p:nvPr/>
        </p:nvSpPr>
        <p:spPr>
          <a:xfrm>
            <a:off x="585787" y="876518"/>
            <a:ext cx="9525000" cy="5011949"/>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This project successfully developed a machine learning-based system to evaluate GitHub repository health using multiple factors such as code quality, popularity, and defect risk. Different models were analyzed, and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was selected as the final model due to its robust performance and higher accuracy in both popularity and bug prediction tasks. The system integrates various repository metrics into a single framework, providing meaningful insights through visualization and scoring. Overall, the proposed approach helps developers and users better understand repository quality and make informed decisions.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9553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F14A6B-3D78-DD39-693B-6B4471100F67}"/>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FBD1A081-154C-2294-C6E5-925B48687DE3}"/>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4" name="TextBox 3">
            <a:extLst>
              <a:ext uri="{FF2B5EF4-FFF2-40B4-BE49-F238E27FC236}">
                <a16:creationId xmlns:a16="http://schemas.microsoft.com/office/drawing/2014/main" id="{DB13414A-0744-B1E8-CE3E-2B7E17489EE1}"/>
              </a:ext>
            </a:extLst>
          </p:cNvPr>
          <p:cNvSpPr txBox="1"/>
          <p:nvPr/>
        </p:nvSpPr>
        <p:spPr>
          <a:xfrm>
            <a:off x="1614487" y="239877"/>
            <a:ext cx="7391400" cy="584775"/>
          </a:xfrm>
          <a:prstGeom prst="rect">
            <a:avLst/>
          </a:prstGeom>
          <a:noFill/>
        </p:spPr>
        <p:txBody>
          <a:bodyPr wrap="squar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Scope For Future Work</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2F9056-CE7D-DDE0-0ADA-9C96CDE06984}"/>
              </a:ext>
            </a:extLst>
          </p:cNvPr>
          <p:cNvSpPr txBox="1"/>
          <p:nvPr/>
        </p:nvSpPr>
        <p:spPr>
          <a:xfrm>
            <a:off x="435440" y="824652"/>
            <a:ext cx="9827747" cy="3349956"/>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Scope for Future work was to Extend the system to support multiple programming languages beyond Python and Java. Incorporate advanced deep learning models for improved prediction accuracy. Enhance the model by including more repository features such as pull requests and contributor behavior. Deploy the system as a scalable web application for wider accessibility.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7883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1DF97C-3A2D-15ED-E329-44EB93D48BBE}"/>
              </a:ext>
            </a:extLst>
          </p:cNvPr>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a:extLst>
              <a:ext uri="{FF2B5EF4-FFF2-40B4-BE49-F238E27FC236}">
                <a16:creationId xmlns:a16="http://schemas.microsoft.com/office/drawing/2014/main" id="{FD2C6E31-3A93-8D54-9EBD-9BA1CF93DFFD}"/>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4" name="TextBox 3">
            <a:extLst>
              <a:ext uri="{FF2B5EF4-FFF2-40B4-BE49-F238E27FC236}">
                <a16:creationId xmlns:a16="http://schemas.microsoft.com/office/drawing/2014/main" id="{BB54E301-EE58-531F-8008-294C4025F090}"/>
              </a:ext>
            </a:extLst>
          </p:cNvPr>
          <p:cNvSpPr txBox="1"/>
          <p:nvPr/>
        </p:nvSpPr>
        <p:spPr>
          <a:xfrm>
            <a:off x="395287" y="534987"/>
            <a:ext cx="9829800" cy="7017306"/>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as a team, would like to express our sincere gratitude to our guide Assistant Professor </a:t>
            </a:r>
            <a:r>
              <a:rPr lang="en-US" b="1" dirty="0">
                <a:solidFill>
                  <a:srgbClr val="FF0000"/>
                </a:solidFill>
                <a:latin typeface="Times New Roman" panose="02020603050405020304" pitchFamily="18" charset="0"/>
                <a:cs typeface="Times New Roman" panose="02020603050405020304" pitchFamily="18" charset="0"/>
              </a:rPr>
              <a:t>Mr. A. Rajesh</a:t>
            </a:r>
            <a:r>
              <a:rPr lang="en-US" dirty="0">
                <a:latin typeface="Times New Roman" panose="02020603050405020304" pitchFamily="18" charset="0"/>
                <a:cs typeface="Times New Roman" panose="02020603050405020304" pitchFamily="18" charset="0"/>
              </a:rPr>
              <a:t>, Department of Computer science and engineering, for his constant guidance, support, and motivation throughout the project. It was a great opportunity to work under his guidance and successfully complete this project.</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extend our heartfelt thanks to our respected Principal </a:t>
            </a:r>
            <a:r>
              <a:rPr lang="en-US" b="1" dirty="0">
                <a:solidFill>
                  <a:srgbClr val="FF0000"/>
                </a:solidFill>
                <a:latin typeface="Times New Roman" panose="02020603050405020304" pitchFamily="18" charset="0"/>
                <a:cs typeface="Times New Roman" panose="02020603050405020304" pitchFamily="18" charset="0"/>
              </a:rPr>
              <a:t>Dr. N. Satyanarayana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Lingayas</a:t>
            </a:r>
            <a:r>
              <a:rPr lang="en-US" dirty="0">
                <a:latin typeface="Times New Roman" panose="02020603050405020304" pitchFamily="18" charset="0"/>
                <a:cs typeface="Times New Roman" panose="02020603050405020304" pitchFamily="18" charset="0"/>
              </a:rPr>
              <a:t> Institute of Management &amp; Technology, for providing the necessary facilities and encouragement during the course of this project.</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would like to thank Head of the department, </a:t>
            </a:r>
            <a:r>
              <a:rPr lang="en-US" b="1" dirty="0">
                <a:solidFill>
                  <a:srgbClr val="FF0000"/>
                </a:solidFill>
                <a:latin typeface="Times New Roman" panose="02020603050405020304" pitchFamily="18" charset="0"/>
                <a:cs typeface="Times New Roman" panose="02020603050405020304" pitchFamily="18" charset="0"/>
              </a:rPr>
              <a:t>Dr. K. Durga Bhavani</a:t>
            </a:r>
            <a:r>
              <a:rPr lang="en-US" dirty="0">
                <a:latin typeface="Times New Roman" panose="02020603050405020304" pitchFamily="18" charset="0"/>
                <a:cs typeface="Times New Roman" panose="02020603050405020304" pitchFamily="18" charset="0"/>
              </a:rPr>
              <a:t>, department of computer science and engineering of </a:t>
            </a:r>
            <a:r>
              <a:rPr lang="en-US" dirty="0" err="1">
                <a:latin typeface="Times New Roman" panose="02020603050405020304" pitchFamily="18" charset="0"/>
                <a:cs typeface="Times New Roman" panose="02020603050405020304" pitchFamily="18" charset="0"/>
              </a:rPr>
              <a:t>Lingayas</a:t>
            </a:r>
            <a:r>
              <a:rPr lang="en-US" dirty="0">
                <a:latin typeface="Times New Roman" panose="02020603050405020304" pitchFamily="18" charset="0"/>
                <a:cs typeface="Times New Roman" panose="02020603050405020304" pitchFamily="18" charset="0"/>
              </a:rPr>
              <a:t> Institute of Management and Technology.</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would like to thank our Chairman </a:t>
            </a:r>
            <a:r>
              <a:rPr lang="en-US" b="1" dirty="0">
                <a:solidFill>
                  <a:srgbClr val="FF0000"/>
                </a:solidFill>
                <a:latin typeface="Times New Roman" panose="02020603050405020304" pitchFamily="18" charset="0"/>
                <a:cs typeface="Times New Roman" panose="02020603050405020304" pitchFamily="18" charset="0"/>
              </a:rPr>
              <a:t>Mr. </a:t>
            </a:r>
            <a:r>
              <a:rPr lang="en-US" b="1" dirty="0" err="1">
                <a:solidFill>
                  <a:srgbClr val="FF0000"/>
                </a:solidFill>
                <a:latin typeface="Times New Roman" panose="02020603050405020304" pitchFamily="18" charset="0"/>
                <a:cs typeface="Times New Roman" panose="02020603050405020304" pitchFamily="18" charset="0"/>
              </a:rPr>
              <a:t>Rajling</a:t>
            </a:r>
            <a:r>
              <a:rPr lang="en-US" b="1" dirty="0">
                <a:solidFill>
                  <a:srgbClr val="FF0000"/>
                </a:solidFill>
                <a:latin typeface="Times New Roman" panose="02020603050405020304" pitchFamily="18" charset="0"/>
                <a:cs typeface="Times New Roman" panose="02020603050405020304" pitchFamily="18" charset="0"/>
              </a:rPr>
              <a:t> Gadde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Lingayas</a:t>
            </a:r>
            <a:r>
              <a:rPr lang="en-US" dirty="0">
                <a:latin typeface="Times New Roman" panose="02020603050405020304" pitchFamily="18" charset="0"/>
                <a:cs typeface="Times New Roman" panose="02020603050405020304" pitchFamily="18" charset="0"/>
              </a:rPr>
              <a:t> Institute of Management &amp; Technology, for his continuous support and motivation.</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would like to extend our heartfelt gratitude and a special thanks to the </a:t>
            </a:r>
            <a:r>
              <a:rPr lang="en-US" b="1" dirty="0">
                <a:solidFill>
                  <a:srgbClr val="FF0000"/>
                </a:solidFill>
                <a:latin typeface="Times New Roman" panose="02020603050405020304" pitchFamily="18" charset="0"/>
                <a:cs typeface="Times New Roman" panose="02020603050405020304" pitchFamily="18" charset="0"/>
              </a:rPr>
              <a:t>Research and Development Division</a:t>
            </a:r>
            <a:r>
              <a:rPr lang="en-US" dirty="0">
                <a:latin typeface="Times New Roman" panose="02020603050405020304" pitchFamily="18" charset="0"/>
                <a:cs typeface="Times New Roman" panose="02020603050405020304" pitchFamily="18" charset="0"/>
              </a:rPr>
              <a:t> of </a:t>
            </a:r>
            <a:r>
              <a:rPr lang="en-US" dirty="0" err="1">
                <a:latin typeface="Times New Roman" panose="02020603050405020304" pitchFamily="18" charset="0"/>
                <a:cs typeface="Times New Roman" panose="02020603050405020304" pitchFamily="18" charset="0"/>
              </a:rPr>
              <a:t>Lingayas</a:t>
            </a:r>
            <a:r>
              <a:rPr lang="en-US" dirty="0">
                <a:latin typeface="Times New Roman" panose="02020603050405020304" pitchFamily="18" charset="0"/>
                <a:cs typeface="Times New Roman" panose="02020603050405020304" pitchFamily="18" charset="0"/>
              </a:rPr>
              <a:t> Institute for their continuous support and guidance throughout our project and supporting us in all aspects.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express our sincere thanks to </a:t>
            </a:r>
            <a:r>
              <a:rPr lang="en-US" b="1" dirty="0">
                <a:solidFill>
                  <a:srgbClr val="FF0000"/>
                </a:solidFill>
                <a:latin typeface="Times New Roman" panose="02020603050405020304" pitchFamily="18" charset="0"/>
                <a:cs typeface="Times New Roman" panose="02020603050405020304" pitchFamily="18" charset="0"/>
              </a:rPr>
              <a:t>Mr. S. Swarup </a:t>
            </a:r>
            <a:r>
              <a:rPr lang="en-US" dirty="0">
                <a:latin typeface="Times New Roman" panose="02020603050405020304" pitchFamily="18" charset="0"/>
                <a:cs typeface="Times New Roman" panose="02020603050405020304" pitchFamily="18" charset="0"/>
              </a:rPr>
              <a:t>for their valuable help and cooperation during the project.</a:t>
            </a:r>
            <a:endParaRPr lang="en-US" b="1" dirty="0">
              <a:solidFill>
                <a:srgbClr val="FF00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express our sincere thanks to all the faculty members of Department for their valuable guidance and cooperation throughout the project.</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also thank the lab faculty for their support and assistance in completing our practical work.</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are grateful to our institution for providing library and other resources that helped us in completing this project.</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Finally, we thank our friends and batchmates for their support and encouragement during the entire project period.</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also acknowledge all those who have directly or indirectly contributed to the successful completion of this project.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3A95C57-A7E4-F6A3-2835-6599E8C48EE0}"/>
              </a:ext>
            </a:extLst>
          </p:cNvPr>
          <p:cNvSpPr txBox="1"/>
          <p:nvPr/>
        </p:nvSpPr>
        <p:spPr>
          <a:xfrm>
            <a:off x="1119187" y="27999"/>
            <a:ext cx="8686800" cy="584775"/>
          </a:xfrm>
          <a:prstGeom prst="rect">
            <a:avLst/>
          </a:prstGeom>
          <a:noFill/>
        </p:spPr>
        <p:txBody>
          <a:bodyPr wrap="square" rtlCol="0">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Acknowledgements</a:t>
            </a:r>
          </a:p>
        </p:txBody>
      </p:sp>
    </p:spTree>
    <p:extLst>
      <p:ext uri="{BB962C8B-B14F-4D97-AF65-F5344CB8AC3E}">
        <p14:creationId xmlns:p14="http://schemas.microsoft.com/office/powerpoint/2010/main" val="3045125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4/23/2026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25</a:t>
            </a:fld>
            <a:endParaRPr lang="en-US"/>
          </a:p>
        </p:txBody>
      </p:sp>
      <p:sp>
        <p:nvSpPr>
          <p:cNvPr id="4" name="Title 1"/>
          <p:cNvSpPr txBox="1">
            <a:spLocks/>
          </p:cNvSpPr>
          <p:nvPr/>
        </p:nvSpPr>
        <p:spPr>
          <a:xfrm>
            <a:off x="1769747" y="0"/>
            <a:ext cx="7080879" cy="685801"/>
          </a:xfrm>
          <a:prstGeom prst="rect">
            <a:avLst/>
          </a:prstGeom>
        </p:spPr>
        <p:txBody>
          <a:bodyPr/>
          <a:lstStyle>
            <a:lvl1pPr algn="l" rtl="0" eaLnBrk="1" latinLnBrk="0" hangingPunct="1">
              <a:spcBef>
                <a:spcPct val="0"/>
              </a:spcBef>
              <a:buNone/>
              <a:defRPr kumimoji="0" sz="4000" kern="1200">
                <a:solidFill>
                  <a:schemeClr val="tx2"/>
                </a:solidFill>
                <a:latin typeface="Times New Roman" panose="02020603050405020304" pitchFamily="18" charset="0"/>
                <a:ea typeface="+mj-ea"/>
                <a:cs typeface="Times New Roman" panose="02020603050405020304" pitchFamily="18" charset="0"/>
              </a:defRPr>
            </a:lvl1pPr>
          </a:lstStyle>
          <a:p>
            <a:pPr algn="ctr"/>
            <a:r>
              <a:rPr lang="en-US" sz="4400" b="1" dirty="0">
                <a:solidFill>
                  <a:srgbClr val="002060"/>
                </a:solidFill>
                <a:latin typeface="Times New Roman"/>
              </a:rPr>
              <a:t>References </a:t>
            </a:r>
          </a:p>
        </p:txBody>
      </p:sp>
      <p:sp>
        <p:nvSpPr>
          <p:cNvPr id="5" name="TextBox 4">
            <a:extLst>
              <a:ext uri="{FF2B5EF4-FFF2-40B4-BE49-F238E27FC236}">
                <a16:creationId xmlns:a16="http://schemas.microsoft.com/office/drawing/2014/main" id="{343ECE66-39F2-135E-5483-3D8579C5386B}"/>
              </a:ext>
            </a:extLst>
          </p:cNvPr>
          <p:cNvSpPr txBox="1"/>
          <p:nvPr/>
        </p:nvSpPr>
        <p:spPr>
          <a:xfrm>
            <a:off x="433387" y="706901"/>
            <a:ext cx="9611721" cy="6247864"/>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Hajiakhoond</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Bidoki</a:t>
            </a:r>
            <a:r>
              <a:rPr lang="en-IN" sz="2000" dirty="0">
                <a:latin typeface="Times New Roman" panose="02020603050405020304" pitchFamily="18" charset="0"/>
                <a:cs typeface="Times New Roman" panose="02020603050405020304" pitchFamily="18" charset="0"/>
              </a:rPr>
              <a:t>, N., </a:t>
            </a:r>
            <a:r>
              <a:rPr lang="en-IN" sz="2000" dirty="0" err="1">
                <a:latin typeface="Times New Roman" panose="02020603050405020304" pitchFamily="18" charset="0"/>
                <a:cs typeface="Times New Roman" panose="02020603050405020304" pitchFamily="18" charset="0"/>
              </a:rPr>
              <a:t>Sukthankar</a:t>
            </a:r>
            <a:r>
              <a:rPr lang="en-IN" sz="2000" dirty="0">
                <a:latin typeface="Times New Roman" panose="02020603050405020304" pitchFamily="18" charset="0"/>
                <a:cs typeface="Times New Roman" panose="02020603050405020304" pitchFamily="18" charset="0"/>
              </a:rPr>
              <a:t>, G., Keathley, H., &amp; Garibay, I. (2018). A Cross-Repository Model for Predicting Popularity in GitHub. 2018 International Conference on Computational Science and Computational Intelligence (CSCI), 1248–1253. https://doi.org/10.1109/csci46756.2018.00241 </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[2] Xu, J., Yan, L., Wang, F., &amp; Ai, J. (2020). A GitHub-Based Data Collection Method for Software Defect Prediction. 2019 6th International Conference on Dependable Systems and Their Applications (DSA), 100–108. https://doi.org/10.1109/dsa.2019.00020</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[3] </a:t>
            </a:r>
            <a:r>
              <a:rPr lang="en-US" sz="2000" dirty="0" err="1">
                <a:latin typeface="Times New Roman" panose="02020603050405020304" pitchFamily="18" charset="0"/>
                <a:cs typeface="Times New Roman" panose="02020603050405020304" pitchFamily="18" charset="0"/>
              </a:rPr>
              <a:t>Caulo</a:t>
            </a:r>
            <a:r>
              <a:rPr lang="en-US" sz="2000" dirty="0">
                <a:latin typeface="Times New Roman" panose="02020603050405020304" pitchFamily="18" charset="0"/>
                <a:cs typeface="Times New Roman" panose="02020603050405020304" pitchFamily="18" charset="0"/>
              </a:rPr>
              <a:t>, M., &amp; </a:t>
            </a:r>
            <a:r>
              <a:rPr lang="en-US" sz="2000" dirty="0" err="1">
                <a:latin typeface="Times New Roman" panose="02020603050405020304" pitchFamily="18" charset="0"/>
                <a:cs typeface="Times New Roman" panose="02020603050405020304" pitchFamily="18" charset="0"/>
              </a:rPr>
              <a:t>Scanniello</a:t>
            </a:r>
            <a:r>
              <a:rPr lang="en-US" sz="2000" dirty="0">
                <a:latin typeface="Times New Roman" panose="02020603050405020304" pitchFamily="18" charset="0"/>
                <a:cs typeface="Times New Roman" panose="02020603050405020304" pitchFamily="18" charset="0"/>
              </a:rPr>
              <a:t>, G. (2019). On the Use of Commit Messages to Support the Creation of Datasets for Fault Prediction: An Empirical Assessment. 2019 45th </a:t>
            </a:r>
            <a:r>
              <a:rPr lang="en-US" sz="2000" dirty="0" err="1">
                <a:latin typeface="Times New Roman" panose="02020603050405020304" pitchFamily="18" charset="0"/>
                <a:cs typeface="Times New Roman" panose="02020603050405020304" pitchFamily="18" charset="0"/>
              </a:rPr>
              <a:t>Euromicro</a:t>
            </a:r>
            <a:r>
              <a:rPr lang="en-US" sz="2000" dirty="0">
                <a:latin typeface="Times New Roman" panose="02020603050405020304" pitchFamily="18" charset="0"/>
                <a:cs typeface="Times New Roman" panose="02020603050405020304" pitchFamily="18" charset="0"/>
              </a:rPr>
              <a:t> Conference on Software Engineering and Advanced Applications (SEAA), 193–198. https://doi.org/10.1109/seaa.2019.00039 </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[4] Shen, Y., Hu, S., Cai, S., &amp; Chen, M. (2022). Software Defect Prediction based on Bayesian Optimization Random Forest. 2022 9th International Conference on Dependable Systems and Their Applications (DSA). https://doi.org/10.1109/dsa56465.2022.00149 </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[5] Zhou, J., Wang, S., </a:t>
            </a:r>
            <a:r>
              <a:rPr lang="en-US" sz="2000" dirty="0" err="1">
                <a:latin typeface="Times New Roman" panose="02020603050405020304" pitchFamily="18" charset="0"/>
                <a:cs typeface="Times New Roman" panose="02020603050405020304" pitchFamily="18" charset="0"/>
              </a:rPr>
              <a:t>Bezemer</a:t>
            </a:r>
            <a:r>
              <a:rPr lang="en-US" sz="2000" dirty="0">
                <a:latin typeface="Times New Roman" panose="02020603050405020304" pitchFamily="18" charset="0"/>
                <a:cs typeface="Times New Roman" panose="02020603050405020304" pitchFamily="18" charset="0"/>
              </a:rPr>
              <a:t>, C.-P., Zou, Y., &amp; Hassan, A. E. (2021). Studying the Association Between </a:t>
            </a:r>
            <a:r>
              <a:rPr lang="en-US" sz="2000" dirty="0" err="1">
                <a:latin typeface="Times New Roman" panose="02020603050405020304" pitchFamily="18" charset="0"/>
                <a:cs typeface="Times New Roman" panose="02020603050405020304" pitchFamily="18" charset="0"/>
              </a:rPr>
              <a:t>Bountysource</a:t>
            </a:r>
            <a:r>
              <a:rPr lang="en-US" sz="2000" dirty="0">
                <a:latin typeface="Times New Roman" panose="02020603050405020304" pitchFamily="18" charset="0"/>
                <a:cs typeface="Times New Roman" panose="02020603050405020304" pitchFamily="18" charset="0"/>
              </a:rPr>
              <a:t> Bounties and the Issue-Addressing Likelihood of GitHub Issue Reports. IEEE Transactions on Software Engineering, 47(12), 2919–2933. https://doi.org/10.1109/tse.2020.2974469</a:t>
            </a:r>
          </a:p>
        </p:txBody>
      </p:sp>
    </p:spTree>
    <p:extLst>
      <p:ext uri="{BB962C8B-B14F-4D97-AF65-F5344CB8AC3E}">
        <p14:creationId xmlns:p14="http://schemas.microsoft.com/office/powerpoint/2010/main" val="4201139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2"/>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11992" tIns="55996" rIns="111992" bIns="55996" numCol="1" anchor="ctr" anchorCtr="0" compatLnSpc="1">
            <a:prstTxWarp prst="textNoShape">
              <a:avLst/>
            </a:prstTxWarp>
          </a:bodyPr>
          <a:lstStyle>
            <a:lvl1pPr>
              <a:defRPr>
                <a:solidFill>
                  <a:schemeClr val="tx1"/>
                </a:solidFill>
                <a:latin typeface="Perpetua" panose="02020502060401020303" pitchFamily="18" charset="0"/>
              </a:defRPr>
            </a:lvl1pPr>
            <a:lvl2pPr marL="909951" indent="-349982">
              <a:defRPr>
                <a:solidFill>
                  <a:schemeClr val="tx1"/>
                </a:solidFill>
                <a:latin typeface="Perpetua" panose="02020502060401020303" pitchFamily="18" charset="0"/>
              </a:defRPr>
            </a:lvl2pPr>
            <a:lvl3pPr marL="1399926" indent="-279985">
              <a:defRPr>
                <a:solidFill>
                  <a:schemeClr val="tx1"/>
                </a:solidFill>
                <a:latin typeface="Perpetua" panose="02020502060401020303" pitchFamily="18" charset="0"/>
              </a:defRPr>
            </a:lvl3pPr>
            <a:lvl4pPr marL="1959898" indent="-279985">
              <a:defRPr>
                <a:solidFill>
                  <a:schemeClr val="tx1"/>
                </a:solidFill>
                <a:latin typeface="Perpetua" panose="02020502060401020303" pitchFamily="18" charset="0"/>
              </a:defRPr>
            </a:lvl4pPr>
            <a:lvl5pPr marL="2519867" indent="-279985">
              <a:defRPr>
                <a:solidFill>
                  <a:schemeClr val="tx1"/>
                </a:solidFill>
                <a:latin typeface="Perpetua" panose="02020502060401020303" pitchFamily="18" charset="0"/>
              </a:defRPr>
            </a:lvl5pPr>
            <a:lvl6pPr marL="3079839" indent="-279985" fontAlgn="base">
              <a:spcBef>
                <a:spcPct val="0"/>
              </a:spcBef>
              <a:spcAft>
                <a:spcPct val="0"/>
              </a:spcAft>
              <a:defRPr>
                <a:solidFill>
                  <a:schemeClr val="tx1"/>
                </a:solidFill>
                <a:latin typeface="Perpetua" panose="02020502060401020303" pitchFamily="18" charset="0"/>
              </a:defRPr>
            </a:lvl6pPr>
            <a:lvl7pPr marL="3639807" indent="-279985" fontAlgn="base">
              <a:spcBef>
                <a:spcPct val="0"/>
              </a:spcBef>
              <a:spcAft>
                <a:spcPct val="0"/>
              </a:spcAft>
              <a:defRPr>
                <a:solidFill>
                  <a:schemeClr val="tx1"/>
                </a:solidFill>
                <a:latin typeface="Perpetua" panose="02020502060401020303" pitchFamily="18" charset="0"/>
              </a:defRPr>
            </a:lvl7pPr>
            <a:lvl8pPr marL="4199778" indent="-279985" fontAlgn="base">
              <a:spcBef>
                <a:spcPct val="0"/>
              </a:spcBef>
              <a:spcAft>
                <a:spcPct val="0"/>
              </a:spcAft>
              <a:defRPr>
                <a:solidFill>
                  <a:schemeClr val="tx1"/>
                </a:solidFill>
                <a:latin typeface="Perpetua" panose="02020502060401020303" pitchFamily="18" charset="0"/>
              </a:defRPr>
            </a:lvl8pPr>
            <a:lvl9pPr marL="4759749" indent="-279985" fontAlgn="base">
              <a:spcBef>
                <a:spcPct val="0"/>
              </a:spcBef>
              <a:spcAft>
                <a:spcPct val="0"/>
              </a:spcAft>
              <a:defRPr>
                <a:solidFill>
                  <a:schemeClr val="tx1"/>
                </a:solidFill>
                <a:latin typeface="Perpetua" panose="02020502060401020303" pitchFamily="18" charset="0"/>
              </a:defRPr>
            </a:lvl9pPr>
          </a:lstStyle>
          <a:p>
            <a:pPr fontAlgn="base">
              <a:spcBef>
                <a:spcPct val="0"/>
              </a:spcBef>
              <a:spcAft>
                <a:spcPct val="0"/>
              </a:spcAft>
            </a:pPr>
            <a:fld id="{C496AF17-ABA6-4DCD-8150-8BE27209D419}" type="datetime1">
              <a:rPr lang="en-US" altLang="en-US" smtClean="0">
                <a:solidFill>
                  <a:schemeClr val="tx2"/>
                </a:solidFill>
                <a:latin typeface="Times New Roman" panose="02020603050405020304" pitchFamily="18" charset="0"/>
              </a:rPr>
              <a:t>4/23/2026</a:t>
            </a:fld>
            <a:endParaRPr lang="en-US" altLang="en-US">
              <a:solidFill>
                <a:schemeClr val="tx2"/>
              </a:solidFill>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4A5DB25D-1D9E-428B-BE35-A0FB0ECB4DD5}" type="slidenum">
              <a:rPr lang="en-US"/>
              <a:pPr>
                <a:defRPr/>
              </a:pPr>
              <a:t>26</a:t>
            </a:fld>
            <a:endParaRPr lang="en-US"/>
          </a:p>
        </p:txBody>
      </p:sp>
      <p:sp>
        <p:nvSpPr>
          <p:cNvPr id="12292" name="Rectangle 5"/>
          <p:cNvSpPr>
            <a:spLocks noChangeArrowheads="1"/>
          </p:cNvSpPr>
          <p:nvPr/>
        </p:nvSpPr>
        <p:spPr bwMode="auto">
          <a:xfrm>
            <a:off x="435800" y="2954521"/>
            <a:ext cx="9867383" cy="1901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Perpetua" panose="02020502060401020303" pitchFamily="18" charset="0"/>
              </a:defRPr>
            </a:lvl1pPr>
            <a:lvl2pPr marL="742950" indent="-285750">
              <a:defRPr>
                <a:solidFill>
                  <a:schemeClr val="tx1"/>
                </a:solidFill>
                <a:latin typeface="Perpetua" panose="02020502060401020303" pitchFamily="18" charset="0"/>
              </a:defRPr>
            </a:lvl2pPr>
            <a:lvl3pPr marL="1143000" indent="-228600">
              <a:defRPr>
                <a:solidFill>
                  <a:schemeClr val="tx1"/>
                </a:solidFill>
                <a:latin typeface="Perpetua" panose="02020502060401020303" pitchFamily="18" charset="0"/>
              </a:defRPr>
            </a:lvl3pPr>
            <a:lvl4pPr marL="1600200" indent="-228600">
              <a:defRPr>
                <a:solidFill>
                  <a:schemeClr val="tx1"/>
                </a:solidFill>
                <a:latin typeface="Perpetua" panose="02020502060401020303" pitchFamily="18" charset="0"/>
              </a:defRPr>
            </a:lvl4pPr>
            <a:lvl5pPr marL="2057400" indent="-228600">
              <a:defRPr>
                <a:solidFill>
                  <a:schemeClr val="tx1"/>
                </a:solidFill>
                <a:latin typeface="Perpetua" panose="02020502060401020303" pitchFamily="18" charset="0"/>
              </a:defRPr>
            </a:lvl5pPr>
            <a:lvl6pPr marL="2514600" indent="-228600" fontAlgn="base">
              <a:spcBef>
                <a:spcPct val="0"/>
              </a:spcBef>
              <a:spcAft>
                <a:spcPct val="0"/>
              </a:spcAft>
              <a:defRPr>
                <a:solidFill>
                  <a:schemeClr val="tx1"/>
                </a:solidFill>
                <a:latin typeface="Perpetua" panose="02020502060401020303" pitchFamily="18" charset="0"/>
              </a:defRPr>
            </a:lvl6pPr>
            <a:lvl7pPr marL="2971800" indent="-228600" fontAlgn="base">
              <a:spcBef>
                <a:spcPct val="0"/>
              </a:spcBef>
              <a:spcAft>
                <a:spcPct val="0"/>
              </a:spcAft>
              <a:defRPr>
                <a:solidFill>
                  <a:schemeClr val="tx1"/>
                </a:solidFill>
                <a:latin typeface="Perpetua" panose="02020502060401020303" pitchFamily="18" charset="0"/>
              </a:defRPr>
            </a:lvl7pPr>
            <a:lvl8pPr marL="3429000" indent="-228600" fontAlgn="base">
              <a:spcBef>
                <a:spcPct val="0"/>
              </a:spcBef>
              <a:spcAft>
                <a:spcPct val="0"/>
              </a:spcAft>
              <a:defRPr>
                <a:solidFill>
                  <a:schemeClr val="tx1"/>
                </a:solidFill>
                <a:latin typeface="Perpetua" panose="02020502060401020303" pitchFamily="18" charset="0"/>
              </a:defRPr>
            </a:lvl8pPr>
            <a:lvl9pPr marL="3886200" indent="-228600" fontAlgn="base">
              <a:spcBef>
                <a:spcPct val="0"/>
              </a:spcBef>
              <a:spcAft>
                <a:spcPct val="0"/>
              </a:spcAft>
              <a:defRPr>
                <a:solidFill>
                  <a:schemeClr val="tx1"/>
                </a:solidFill>
                <a:latin typeface="Perpetua" panose="02020502060401020303" pitchFamily="18" charset="0"/>
              </a:defRPr>
            </a:lvl9pPr>
          </a:lstStyle>
          <a:p>
            <a:pPr algn="ctr"/>
            <a:r>
              <a:rPr lang="en-US" altLang="en-US" sz="11758" b="1" dirty="0"/>
              <a:t>Thank You</a:t>
            </a:r>
          </a:p>
        </p:txBody>
      </p:sp>
    </p:spTree>
    <p:extLst>
      <p:ext uri="{BB962C8B-B14F-4D97-AF65-F5344CB8AC3E}">
        <p14:creationId xmlns:p14="http://schemas.microsoft.com/office/powerpoint/2010/main" val="520591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15678</TotalTime>
  <Words>2867</Words>
  <Application>Microsoft Office PowerPoint</Application>
  <PresentationFormat>Custom</PresentationFormat>
  <Paragraphs>206</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Noto Sans Symbols</vt:lpstr>
      <vt:lpstr>Times New Roman</vt:lpstr>
      <vt:lpstr>Wingdings</vt:lpstr>
      <vt:lpstr>Wingdings 2</vt:lpstr>
      <vt:lpstr>Equity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Gopi</dc:creator>
  <cp:lastModifiedBy>Venkat Thota</cp:lastModifiedBy>
  <cp:revision>1684</cp:revision>
  <dcterms:created xsi:type="dcterms:W3CDTF">2006-08-16T00:00:00Z</dcterms:created>
  <dcterms:modified xsi:type="dcterms:W3CDTF">2026-04-23T17:37:51Z</dcterms:modified>
</cp:coreProperties>
</file>